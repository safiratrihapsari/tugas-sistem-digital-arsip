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57200"/>
            <a:ext cx="2286000" cy="2286000"/>
          </a:xfrm>
          <a:prstGeom prst="ellipse">
            <a:avLst/>
          </a:prstGeom>
          <a:solidFill>
            <a:srgbClr val="315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2560320"/>
            <a:ext cx="1143000" cy="1143000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909560" y="4023360"/>
            <a:ext cx="1920240" cy="1920240"/>
          </a:xfrm>
          <a:prstGeom prst="ellipse">
            <a:avLst/>
          </a:prstGeom>
          <a:solidFill>
            <a:srgbClr val="253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731520"/>
            <a:ext cx="6400800" cy="36576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300" b="1">
                <a:solidFill>
                  <a:srgbClr val="ADC2FF"/>
                </a:solidFill>
                <a:latin typeface="Aptos"/>
              </a:rPr>
              <a:t>ANALISIS KEBUTUHAN &amp; PERANCANGAN SISTEM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7040880" cy="96012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ptos"/>
              </a:rPr>
              <a:t>ARSIPKU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468880"/>
            <a:ext cx="6766560" cy="91440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Aplikasi Arsip Digital Mahasiswa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74720"/>
            <a:ext cx="6217920" cy="100584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600" b="0">
                <a:solidFill>
                  <a:srgbClr val="DEE5FF"/>
                </a:solidFill>
                <a:latin typeface="Aptos"/>
              </a:rPr>
              <a:t>Mengelola dokumen kuliah dalam satu antarmuka: daftar arsip, kategori, dan pencarian.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800600"/>
            <a:ext cx="1463040" cy="310896"/>
          </a:xfrm>
          <a:prstGeom prst="roundRect">
            <a:avLst/>
          </a:prstGeom>
          <a:solidFill>
            <a:srgbClr val="2C3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4841748"/>
            <a:ext cx="1408176" cy="201168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STUDI KASUS UI/UX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89320"/>
            <a:ext cx="6858000" cy="32004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100" b="0">
                <a:solidFill>
                  <a:srgbClr val="DEE5FF"/>
                </a:solidFill>
                <a:latin typeface="Aptos"/>
              </a:rPr>
              <a:t>Nama: ____________________    Kelas: ____________________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2700" b="1">
                <a:solidFill>
                  <a:srgbClr val="172554"/>
                </a:solidFill>
                <a:latin typeface="Aptos"/>
              </a:rPr>
              <a:t>Tujuan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347472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Tujuan analisis dan perancangan ARSIPKU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713232" cy="50292"/>
          </a:xfrm>
          <a:prstGeom prst="rect">
            <a:avLst/>
          </a:prstGeom>
          <a:solidFill>
            <a:srgbClr val="315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68580" cy="1600200"/>
          </a:xfrm>
          <a:prstGeom prst="rect">
            <a:avLst/>
          </a:prstGeom>
          <a:solidFill>
            <a:srgbClr val="315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19656"/>
            <a:ext cx="3154679" cy="347472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500" b="1">
                <a:solidFill>
                  <a:srgbClr val="172554"/>
                </a:solidFill>
                <a:latin typeface="Aptos"/>
              </a:rPr>
              <a:t>Memahami masalah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21992"/>
            <a:ext cx="3154679" cy="978407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200" b="0">
                <a:solidFill>
                  <a:srgbClr val="172033"/>
                </a:solidFill>
                <a:latin typeface="Aptos"/>
              </a:rPr>
              <a:t>Mengidentifikasi kendala saat dokumen mahasiswa tersimpan di banyak tempat.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69164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691640"/>
            <a:ext cx="68580" cy="160020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819656"/>
            <a:ext cx="3154679" cy="347472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500" b="1">
                <a:solidFill>
                  <a:srgbClr val="172554"/>
                </a:solidFill>
                <a:latin typeface="Aptos"/>
              </a:rPr>
              <a:t>Merancang solusi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221992"/>
            <a:ext cx="3154679" cy="978407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200" b="0">
                <a:solidFill>
                  <a:srgbClr val="172033"/>
                </a:solidFill>
                <a:latin typeface="Aptos"/>
              </a:rPr>
              <a:t>Menyusun fitur arsip digital dengan alur sederhana dan mudah dipahami.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69164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1691640"/>
            <a:ext cx="68580" cy="1600200"/>
          </a:xfrm>
          <a:prstGeom prst="rect">
            <a:avLst/>
          </a:prstGeom>
          <a:solidFill>
            <a:srgbClr val="E6A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79" y="1819656"/>
            <a:ext cx="3154679" cy="347472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500" b="1">
                <a:solidFill>
                  <a:srgbClr val="172554"/>
                </a:solidFill>
                <a:latin typeface="Aptos"/>
              </a:rPr>
              <a:t>Menguji rancangan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221992"/>
            <a:ext cx="3154679" cy="978407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200" b="0">
                <a:solidFill>
                  <a:srgbClr val="172033"/>
                </a:solidFill>
                <a:latin typeface="Aptos"/>
              </a:rPr>
              <a:t>Menentukan skenario uji untuk memeriksa kemudahan penggunaan.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977639"/>
            <a:ext cx="10241280" cy="36576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800" b="1">
                <a:solidFill>
                  <a:srgbClr val="172554"/>
                </a:solidFill>
                <a:latin typeface="Aptos"/>
              </a:rPr>
              <a:t>Output studi kasus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434840"/>
            <a:ext cx="10149840" cy="12801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•  Analisis masalah dan target pengguna</a:t>
            </a:r>
          </a:p>
          <a:p>
            <a:pPr>
              <a:spcAft>
                <a:spcPts val="5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•  Kebutuhan fungsional dan nonfungsional</a:t>
            </a:r>
          </a:p>
          <a:p>
            <a:pPr>
              <a:spcAft>
                <a:spcPts val="5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•  Model alur pengguna dan rancangan antarmuka</a:t>
            </a:r>
          </a:p>
          <a:p>
            <a:pPr>
              <a:spcAft>
                <a:spcPts val="5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•  Rencana pengujian serta batasan prototipe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2700" b="1">
                <a:solidFill>
                  <a:srgbClr val="172554"/>
                </a:solidFill>
                <a:latin typeface="Aptos"/>
              </a:rPr>
              <a:t>Alur Pengerjaan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347472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Tahapan yang digunakan untuk menyusun studi kasus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713232" cy="50292"/>
          </a:xfrm>
          <a:prstGeom prst="rect">
            <a:avLst/>
          </a:prstGeom>
          <a:solidFill>
            <a:srgbClr val="315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286000"/>
            <a:ext cx="1600200" cy="1143000"/>
          </a:xfrm>
          <a:prstGeom prst="roundRect">
            <a:avLst/>
          </a:prstGeom>
          <a:solidFill>
            <a:srgbClr val="F8FAFF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2350008"/>
            <a:ext cx="1453896" cy="1033271"/>
          </a:xfrm>
          <a:prstGeom prst="rect">
            <a:avLst/>
          </a:prstGeom>
          <a:noFill/>
        </p:spPr>
        <p:txBody>
          <a:bodyPr wrap="square" lIns="64008" rIns="64008" tIns="36576" bIns="27432" anchor="ctr">
            <a:spAutoFit/>
          </a:bodyPr>
          <a:lstStyle/>
          <a:p>
            <a:pPr algn="ctr"/>
            <a:r>
              <a:rPr sz="1300" b="1">
                <a:solidFill>
                  <a:srgbClr val="172554"/>
                </a:solidFill>
                <a:latin typeface="Aptos"/>
              </a:rPr>
              <a:t>Analisis
masalah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8408" y="1901952"/>
            <a:ext cx="640080" cy="310896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943100"/>
            <a:ext cx="585215" cy="201168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ctr"/>
            <a:r>
              <a:rPr sz="900" b="1">
                <a:solidFill>
                  <a:srgbClr val="3157D5"/>
                </a:solidFill>
                <a:latin typeface="Aptos"/>
              </a:rPr>
              <a:t>01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30552" y="2852928"/>
            <a:ext cx="237744" cy="0"/>
          </a:xfrm>
          <a:prstGeom prst="line">
            <a:avLst/>
          </a:prstGeom>
          <a:ln w="22860">
            <a:solidFill>
              <a:srgbClr val="3157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41448" y="2286000"/>
            <a:ext cx="1600200" cy="1143000"/>
          </a:xfrm>
          <a:prstGeom prst="roundRect">
            <a:avLst/>
          </a:prstGeom>
          <a:solidFill>
            <a:srgbClr val="F8FAFF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4600" y="2350008"/>
            <a:ext cx="1453896" cy="1033271"/>
          </a:xfrm>
          <a:prstGeom prst="rect">
            <a:avLst/>
          </a:prstGeom>
          <a:noFill/>
        </p:spPr>
        <p:txBody>
          <a:bodyPr wrap="square" lIns="64008" rIns="64008" tIns="36576" bIns="27432" anchor="ctr">
            <a:spAutoFit/>
          </a:bodyPr>
          <a:lstStyle/>
          <a:p>
            <a:pPr algn="ctr"/>
            <a:r>
              <a:rPr sz="1300" b="1">
                <a:solidFill>
                  <a:srgbClr val="172554"/>
                </a:solidFill>
                <a:latin typeface="Aptos"/>
              </a:rPr>
              <a:t>Analisis
pengguna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16936" y="1901952"/>
            <a:ext cx="640080" cy="310896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44368" y="1943100"/>
            <a:ext cx="585215" cy="201168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ctr"/>
            <a:r>
              <a:rPr sz="900" b="1">
                <a:solidFill>
                  <a:srgbClr val="3157D5"/>
                </a:solidFill>
                <a:latin typeface="Aptos"/>
              </a:rPr>
              <a:t>02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069080" y="2852928"/>
            <a:ext cx="237744" cy="0"/>
          </a:xfrm>
          <a:prstGeom prst="line">
            <a:avLst/>
          </a:prstGeom>
          <a:ln w="22860">
            <a:solidFill>
              <a:srgbClr val="3157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379976" y="2286000"/>
            <a:ext cx="1600200" cy="1143000"/>
          </a:xfrm>
          <a:prstGeom prst="roundRect">
            <a:avLst/>
          </a:prstGeom>
          <a:solidFill>
            <a:srgbClr val="F8FAFF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3128" y="2350008"/>
            <a:ext cx="1453896" cy="1033271"/>
          </a:xfrm>
          <a:prstGeom prst="rect">
            <a:avLst/>
          </a:prstGeom>
          <a:noFill/>
        </p:spPr>
        <p:txBody>
          <a:bodyPr wrap="square" lIns="64008" rIns="64008" tIns="36576" bIns="27432" anchor="ctr">
            <a:spAutoFit/>
          </a:bodyPr>
          <a:lstStyle/>
          <a:p>
            <a:pPr algn="ctr"/>
            <a:r>
              <a:rPr sz="1300" b="1">
                <a:solidFill>
                  <a:srgbClr val="172554"/>
                </a:solidFill>
                <a:latin typeface="Aptos"/>
              </a:rPr>
              <a:t>Elisitasi
kebutuhan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55464" y="1901952"/>
            <a:ext cx="640080" cy="310896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82896" y="1943100"/>
            <a:ext cx="585215" cy="201168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ctr"/>
            <a:r>
              <a:rPr sz="900" b="1">
                <a:solidFill>
                  <a:srgbClr val="3157D5"/>
                </a:solidFill>
                <a:latin typeface="Aptos"/>
              </a:rPr>
              <a:t>03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07608" y="2852928"/>
            <a:ext cx="237744" cy="0"/>
          </a:xfrm>
          <a:prstGeom prst="line">
            <a:avLst/>
          </a:prstGeom>
          <a:ln w="22860">
            <a:solidFill>
              <a:srgbClr val="3157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318504" y="2286000"/>
            <a:ext cx="1600200" cy="1143000"/>
          </a:xfrm>
          <a:prstGeom prst="roundRect">
            <a:avLst/>
          </a:prstGeom>
          <a:solidFill>
            <a:srgbClr val="F8FAFF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1656" y="2350008"/>
            <a:ext cx="1453896" cy="1033271"/>
          </a:xfrm>
          <a:prstGeom prst="rect">
            <a:avLst/>
          </a:prstGeom>
          <a:noFill/>
        </p:spPr>
        <p:txBody>
          <a:bodyPr wrap="square" lIns="64008" rIns="64008" tIns="36576" bIns="27432" anchor="ctr">
            <a:spAutoFit/>
          </a:bodyPr>
          <a:lstStyle/>
          <a:p>
            <a:pPr algn="ctr"/>
            <a:r>
              <a:rPr sz="1300" b="1">
                <a:solidFill>
                  <a:srgbClr val="172554"/>
                </a:solidFill>
                <a:latin typeface="Aptos"/>
              </a:rPr>
              <a:t>Pemodelan
sistem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93992" y="1901952"/>
            <a:ext cx="640080" cy="310896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21424" y="1943100"/>
            <a:ext cx="585215" cy="201168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ctr"/>
            <a:r>
              <a:rPr sz="900" b="1">
                <a:solidFill>
                  <a:srgbClr val="3157D5"/>
                </a:solidFill>
                <a:latin typeface="Aptos"/>
              </a:rPr>
              <a:t>04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946136" y="2852928"/>
            <a:ext cx="237743" cy="0"/>
          </a:xfrm>
          <a:prstGeom prst="line">
            <a:avLst/>
          </a:prstGeom>
          <a:ln w="22860">
            <a:solidFill>
              <a:srgbClr val="3157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257032" y="2286000"/>
            <a:ext cx="1600200" cy="1143000"/>
          </a:xfrm>
          <a:prstGeom prst="roundRect">
            <a:avLst/>
          </a:prstGeom>
          <a:solidFill>
            <a:srgbClr val="F8FAFF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0184" y="2350008"/>
            <a:ext cx="1453896" cy="1033271"/>
          </a:xfrm>
          <a:prstGeom prst="rect">
            <a:avLst/>
          </a:prstGeom>
          <a:noFill/>
        </p:spPr>
        <p:txBody>
          <a:bodyPr wrap="square" lIns="64008" rIns="64008" tIns="36576" bIns="27432" anchor="ctr">
            <a:spAutoFit/>
          </a:bodyPr>
          <a:lstStyle/>
          <a:p>
            <a:pPr algn="ctr"/>
            <a:r>
              <a:rPr sz="1300" b="1">
                <a:solidFill>
                  <a:srgbClr val="172554"/>
                </a:solidFill>
                <a:latin typeface="Aptos"/>
              </a:rPr>
              <a:t>Rancangan
antarmuka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32520" y="1901952"/>
            <a:ext cx="640080" cy="310896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59952" y="1943100"/>
            <a:ext cx="585215" cy="201168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ctr"/>
            <a:r>
              <a:rPr sz="900" b="1">
                <a:solidFill>
                  <a:srgbClr val="3157D5"/>
                </a:solidFill>
                <a:latin typeface="Aptos"/>
              </a:rPr>
              <a:t>05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884664" y="2852928"/>
            <a:ext cx="237744" cy="0"/>
          </a:xfrm>
          <a:prstGeom prst="line">
            <a:avLst/>
          </a:prstGeom>
          <a:ln w="22860">
            <a:solidFill>
              <a:srgbClr val="3157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0195560" y="2286000"/>
            <a:ext cx="1600200" cy="1143000"/>
          </a:xfrm>
          <a:prstGeom prst="roundRect">
            <a:avLst/>
          </a:prstGeom>
          <a:solidFill>
            <a:srgbClr val="F8FAFF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68712" y="2350008"/>
            <a:ext cx="1453896" cy="1033271"/>
          </a:xfrm>
          <a:prstGeom prst="rect">
            <a:avLst/>
          </a:prstGeom>
          <a:noFill/>
        </p:spPr>
        <p:txBody>
          <a:bodyPr wrap="square" lIns="64008" rIns="64008" tIns="36576" bIns="27432" anchor="ctr">
            <a:spAutoFit/>
          </a:bodyPr>
          <a:lstStyle/>
          <a:p>
            <a:pPr algn="ctr"/>
            <a:r>
              <a:rPr sz="1300" b="1">
                <a:solidFill>
                  <a:srgbClr val="172554"/>
                </a:solidFill>
                <a:latin typeface="Aptos"/>
              </a:rPr>
              <a:t>Pengujian
usability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671048" y="1901952"/>
            <a:ext cx="640080" cy="310896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98480" y="1943100"/>
            <a:ext cx="585215" cy="201168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ctr"/>
            <a:r>
              <a:rPr sz="900" b="1">
                <a:solidFill>
                  <a:srgbClr val="3157D5"/>
                </a:solidFill>
                <a:latin typeface="Aptos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160520"/>
            <a:ext cx="10241280" cy="59436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ctr"/>
            <a:r>
              <a:rPr sz="1700" b="1">
                <a:solidFill>
                  <a:srgbClr val="172554"/>
                </a:solidFill>
                <a:latin typeface="Aptos"/>
              </a:rPr>
              <a:t>Hasil akhirnya adalah rancangan dan prototipe HTML ARSIPKU yang dapat ditinjau sebagai demo UI/UX.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2700" b="1">
                <a:solidFill>
                  <a:srgbClr val="172554"/>
                </a:solidFill>
                <a:latin typeface="Aptos"/>
              </a:rPr>
              <a:t>Tahap 1 — Kondisi Saat 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347472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Gambaran masalah pengelolaan dokumen mahasiswa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713232" cy="50292"/>
          </a:xfrm>
          <a:prstGeom prst="rect">
            <a:avLst/>
          </a:prstGeom>
          <a:solidFill>
            <a:srgbClr val="315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68580" cy="1828800"/>
          </a:xfrm>
          <a:prstGeom prst="rect">
            <a:avLst/>
          </a:prstGeom>
          <a:solidFill>
            <a:srgbClr val="315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65376"/>
            <a:ext cx="3154679" cy="347472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500" b="1">
                <a:solidFill>
                  <a:srgbClr val="172554"/>
                </a:solidFill>
                <a:latin typeface="Aptos"/>
              </a:rPr>
              <a:t>Dokumen tersebar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67712"/>
            <a:ext cx="3154679" cy="1207007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200" b="0">
                <a:solidFill>
                  <a:srgbClr val="172033"/>
                </a:solidFill>
                <a:latin typeface="Aptos"/>
              </a:rPr>
              <a:t>Dokumen kuliah dapat berada di folder unduhan, galeri, email, chat, atau penyimpanan perangkat.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73736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737360"/>
            <a:ext cx="68580" cy="182880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865376"/>
            <a:ext cx="3154679" cy="347472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500" b="1">
                <a:solidFill>
                  <a:srgbClr val="172554"/>
                </a:solidFill>
                <a:latin typeface="Aptos"/>
              </a:rPr>
              <a:t>Nama file tidak seragam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267712"/>
            <a:ext cx="3154679" cy="1207007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200" b="0">
                <a:solidFill>
                  <a:srgbClr val="172033"/>
                </a:solidFill>
                <a:latin typeface="Aptos"/>
              </a:rPr>
              <a:t>Nama dokumen dan cara mengelompokkan file bisa berbeda-beda.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73736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1737360"/>
            <a:ext cx="68580" cy="1828800"/>
          </a:xfrm>
          <a:prstGeom prst="rect">
            <a:avLst/>
          </a:prstGeom>
          <a:solidFill>
            <a:srgbClr val="E6A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79" y="1865376"/>
            <a:ext cx="3154679" cy="347472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500" b="1">
                <a:solidFill>
                  <a:srgbClr val="172554"/>
                </a:solidFill>
                <a:latin typeface="Aptos"/>
              </a:rPr>
              <a:t>Pencarian memakan waktu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267712"/>
            <a:ext cx="3154679" cy="1207007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200" b="0">
                <a:solidFill>
                  <a:srgbClr val="172033"/>
                </a:solidFill>
                <a:latin typeface="Aptos"/>
              </a:rPr>
              <a:t>Pengguna perlu membuka beberapa folder untuk menemukan file yang dibutuhkan.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251960"/>
            <a:ext cx="10149840" cy="68580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ctr"/>
            <a:r>
              <a:rPr sz="1800" b="1">
                <a:solidFill>
                  <a:srgbClr val="172554"/>
                </a:solidFill>
                <a:latin typeface="Aptos"/>
              </a:rPr>
              <a:t>Konteks ARSIPKU: membantu mahasiswa mengatur file digital melalui daftar arsip dan kategori.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2700" b="1">
                <a:solidFill>
                  <a:srgbClr val="172554"/>
                </a:solidFill>
                <a:latin typeface="Aptos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347472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Kondisi saat ini → masalah → dampak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713232" cy="50292"/>
          </a:xfrm>
          <a:prstGeom prst="rect">
            <a:avLst/>
          </a:prstGeom>
          <a:solidFill>
            <a:srgbClr val="315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33375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828800"/>
            <a:ext cx="68580" cy="1920240"/>
          </a:xfrm>
          <a:prstGeom prst="rect">
            <a:avLst/>
          </a:prstGeom>
          <a:solidFill>
            <a:srgbClr val="315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56816"/>
            <a:ext cx="3017520" cy="347472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500" b="1">
                <a:solidFill>
                  <a:srgbClr val="172554"/>
                </a:solidFill>
                <a:latin typeface="Aptos"/>
              </a:rPr>
              <a:t>Kondisi saat ini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59152"/>
            <a:ext cx="3017520" cy="1298448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200" b="0">
                <a:solidFill>
                  <a:srgbClr val="172033"/>
                </a:solidFill>
                <a:latin typeface="Aptos"/>
              </a:rPr>
              <a:t>Dokumen mahasiswa tersimpan di berbagai folder atau aplikasi.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06240" y="2743200"/>
            <a:ext cx="320040" cy="0"/>
          </a:xfrm>
          <a:prstGeom prst="line">
            <a:avLst/>
          </a:prstGeom>
          <a:ln w="22860">
            <a:solidFill>
              <a:srgbClr val="3157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572000" y="1828800"/>
            <a:ext cx="29718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1828800"/>
            <a:ext cx="68580" cy="1920240"/>
          </a:xfrm>
          <a:prstGeom prst="rect">
            <a:avLst/>
          </a:prstGeom>
          <a:solidFill>
            <a:srgbClr val="E6A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1956816"/>
            <a:ext cx="2651760" cy="347472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500" b="1">
                <a:solidFill>
                  <a:srgbClr val="172554"/>
                </a:solidFill>
                <a:latin typeface="Aptos"/>
              </a:rPr>
              <a:t>Masalah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359152"/>
            <a:ext cx="2651760" cy="1298448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200" b="0">
                <a:solidFill>
                  <a:srgbClr val="172033"/>
                </a:solidFill>
                <a:latin typeface="Aptos"/>
              </a:rPr>
              <a:t>Dokumen sulit dicari dan pengelompokannya tidak konsisten.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589520" y="2743200"/>
            <a:ext cx="292607" cy="0"/>
          </a:xfrm>
          <a:prstGeom prst="line">
            <a:avLst/>
          </a:prstGeom>
          <a:ln w="22860">
            <a:solidFill>
              <a:srgbClr val="3157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955279" y="1828800"/>
            <a:ext cx="33375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79" y="1828800"/>
            <a:ext cx="68580" cy="1920240"/>
          </a:xfrm>
          <a:prstGeom prst="rect">
            <a:avLst/>
          </a:prstGeom>
          <a:solidFill>
            <a:srgbClr val="C43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59" y="1956816"/>
            <a:ext cx="3017520" cy="347472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500" b="1">
                <a:solidFill>
                  <a:srgbClr val="172554"/>
                </a:solidFill>
                <a:latin typeface="Aptos"/>
              </a:rPr>
              <a:t>Dampak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59" y="2359152"/>
            <a:ext cx="3017520" cy="1298448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200" b="0">
                <a:solidFill>
                  <a:srgbClr val="172033"/>
                </a:solidFill>
                <a:latin typeface="Aptos"/>
              </a:rPr>
              <a:t>Waktu terbuang, file berpotensi tertukar, dan pengelolaan dokumen kurang rapi.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480560"/>
            <a:ext cx="10149840" cy="77724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ctr"/>
            <a:r>
              <a:rPr sz="1700" b="1">
                <a:solidFill>
                  <a:srgbClr val="172554"/>
                </a:solidFill>
                <a:latin typeface="Aptos"/>
              </a:rPr>
              <a:t>Pernyataan masalah: Mahasiswa membutuhkan cara yang lebih teratur untuk menyimpan, mengelompokkan, dan menemukan dokumen digital.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2700" b="1">
                <a:solidFill>
                  <a:srgbClr val="172554"/>
                </a:solidFill>
                <a:latin typeface="Aptos"/>
              </a:rPr>
              <a:t>Root Cause Analysis — Fishbone &amp; 5 Whys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347472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Akar penyebab yang menjadi dasar rancangan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713232" cy="50292"/>
          </a:xfrm>
          <a:prstGeom prst="rect">
            <a:avLst/>
          </a:prstGeom>
          <a:solidFill>
            <a:srgbClr val="315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34290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68580" cy="1051560"/>
          </a:xfrm>
          <a:prstGeom prst="rect">
            <a:avLst/>
          </a:prstGeom>
          <a:solidFill>
            <a:srgbClr val="315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819656"/>
            <a:ext cx="3108960" cy="347472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500" b="1">
                <a:solidFill>
                  <a:srgbClr val="172554"/>
                </a:solidFill>
                <a:latin typeface="Aptos"/>
              </a:rPr>
              <a:t>MANUSIA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21992"/>
            <a:ext cx="3108960" cy="429767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100" b="0">
                <a:solidFill>
                  <a:srgbClr val="172033"/>
                </a:solidFill>
                <a:latin typeface="Aptos"/>
              </a:rPr>
              <a:t>Kebiasaan menyimpan file berbeda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691640"/>
            <a:ext cx="34290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691640"/>
            <a:ext cx="68580" cy="105156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819656"/>
            <a:ext cx="3108960" cy="347472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500" b="1">
                <a:solidFill>
                  <a:srgbClr val="172554"/>
                </a:solidFill>
                <a:latin typeface="Aptos"/>
              </a:rPr>
              <a:t>METODE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221992"/>
            <a:ext cx="3108960" cy="429767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100" b="0">
                <a:solidFill>
                  <a:srgbClr val="172033"/>
                </a:solidFill>
                <a:latin typeface="Aptos"/>
              </a:rPr>
              <a:t>Belum ada pola kategori pribadi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691640"/>
            <a:ext cx="34290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691640"/>
            <a:ext cx="68580" cy="1051560"/>
          </a:xfrm>
          <a:prstGeom prst="rect">
            <a:avLst/>
          </a:prstGeom>
          <a:solidFill>
            <a:srgbClr val="E6A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819656"/>
            <a:ext cx="3108960" cy="347472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500" b="1">
                <a:solidFill>
                  <a:srgbClr val="172554"/>
                </a:solidFill>
                <a:latin typeface="Aptos"/>
              </a:rPr>
              <a:t>TEKNOLOGI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221992"/>
            <a:ext cx="3108960" cy="429767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100" b="0">
                <a:solidFill>
                  <a:srgbClr val="172033"/>
                </a:solidFill>
                <a:latin typeface="Aptos"/>
              </a:rPr>
              <a:t>File berada di banyak aplikasi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017520"/>
            <a:ext cx="34290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017520"/>
            <a:ext cx="68580" cy="1051560"/>
          </a:xfrm>
          <a:prstGeom prst="rect">
            <a:avLst/>
          </a:prstGeom>
          <a:solidFill>
            <a:srgbClr val="C43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3145536"/>
            <a:ext cx="3108960" cy="347472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500" b="1">
                <a:solidFill>
                  <a:srgbClr val="172554"/>
                </a:solidFill>
                <a:latin typeface="Aptos"/>
              </a:rPr>
              <a:t>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3547872"/>
            <a:ext cx="3108960" cy="429767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100" b="0">
                <a:solidFill>
                  <a:srgbClr val="172033"/>
                </a:solidFill>
                <a:latin typeface="Aptos"/>
              </a:rPr>
              <a:t>Nama dan deskripsi tidak konsisten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3017520"/>
            <a:ext cx="34290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34840" y="3017520"/>
            <a:ext cx="68580" cy="1051560"/>
          </a:xfrm>
          <a:prstGeom prst="rect">
            <a:avLst/>
          </a:prstGeom>
          <a:solidFill>
            <a:srgbClr val="315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3145536"/>
            <a:ext cx="3108960" cy="347472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500" b="1">
                <a:solidFill>
                  <a:srgbClr val="172554"/>
                </a:solidFill>
                <a:latin typeface="Aptos"/>
              </a:rPr>
              <a:t>LINGKUNGAN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3547872"/>
            <a:ext cx="3108960" cy="429767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100" b="0">
                <a:solidFill>
                  <a:srgbClr val="172033"/>
                </a:solidFill>
                <a:latin typeface="Aptos"/>
              </a:rPr>
              <a:t>Menggunakan beberapa perangkat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54880"/>
            <a:ext cx="10424160" cy="32004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600" b="1">
                <a:solidFill>
                  <a:srgbClr val="172554"/>
                </a:solidFill>
                <a:latin typeface="Aptos"/>
              </a:rPr>
              <a:t>Ringkasan 5 Whys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074920"/>
            <a:ext cx="10332720" cy="10515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72033"/>
                </a:solidFill>
                <a:latin typeface="Aptos"/>
              </a:defRPr>
            </a:pPr>
            <a:r>
              <a:t>•  Mengapa sulit ditemukan? Karena file tersebar.</a:t>
            </a:r>
          </a:p>
          <a:p>
            <a:pPr>
              <a:spcAft>
                <a:spcPts val="300"/>
              </a:spcAft>
              <a:defRPr sz="1200">
                <a:solidFill>
                  <a:srgbClr val="172033"/>
                </a:solidFill>
                <a:latin typeface="Aptos"/>
              </a:defRPr>
            </a:pPr>
            <a:r>
              <a:t>•  Mengapa tersebar? Karena disimpan lewat berbagai folder/aplikasi.</a:t>
            </a:r>
          </a:p>
          <a:p>
            <a:pPr>
              <a:spcAft>
                <a:spcPts val="300"/>
              </a:spcAft>
              <a:defRPr sz="1200">
                <a:solidFill>
                  <a:srgbClr val="172033"/>
                </a:solidFill>
                <a:latin typeface="Aptos"/>
              </a:defRPr>
            </a:pPr>
            <a:r>
              <a:t>•  Apa pendekatan solusi? Sediakan daftar arsip, kategori, dan pencarian dalam satu antarmuka.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2700" b="1">
                <a:solidFill>
                  <a:srgbClr val="172554"/>
                </a:solidFill>
                <a:latin typeface="Aptos"/>
              </a:rPr>
              <a:t>Gap Analysis — AS-IS vs TO-BE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347472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Perbandingan kondisi sekarang dan kondisi yang diharapkan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713232" cy="50292"/>
          </a:xfrm>
          <a:prstGeom prst="rect">
            <a:avLst/>
          </a:prstGeom>
          <a:solidFill>
            <a:srgbClr val="315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645920"/>
            <a:ext cx="2057400" cy="658368"/>
          </a:xfrm>
          <a:prstGeom prst="rect">
            <a:avLst/>
          </a:prstGeom>
          <a:solidFill>
            <a:srgbClr val="172554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55648"/>
            <a:ext cx="1874519" cy="457200"/>
          </a:xfrm>
          <a:prstGeom prst="rect">
            <a:avLst/>
          </a:prstGeom>
          <a:noFill/>
        </p:spPr>
        <p:txBody>
          <a:bodyPr wrap="square" lIns="64008" rIns="64008" tIns="36576" bIns="2743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Aspek</a:t>
            </a:r>
          </a:p>
        </p:txBody>
      </p:sp>
      <p:sp>
        <p:nvSpPr>
          <p:cNvPr id="9" name="Rectangle 8"/>
          <p:cNvSpPr/>
          <p:nvPr/>
        </p:nvSpPr>
        <p:spPr>
          <a:xfrm>
            <a:off x="2880360" y="1645920"/>
            <a:ext cx="3840480" cy="658368"/>
          </a:xfrm>
          <a:prstGeom prst="rect">
            <a:avLst/>
          </a:prstGeom>
          <a:solidFill>
            <a:srgbClr val="172554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1755648"/>
            <a:ext cx="3657600" cy="457200"/>
          </a:xfrm>
          <a:prstGeom prst="rect">
            <a:avLst/>
          </a:prstGeom>
          <a:noFill/>
        </p:spPr>
        <p:txBody>
          <a:bodyPr wrap="square" lIns="64008" rIns="64008" tIns="36576" bIns="2743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AS-IS / Saat ini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12280" y="1645920"/>
            <a:ext cx="4526280" cy="658368"/>
          </a:xfrm>
          <a:prstGeom prst="rect">
            <a:avLst/>
          </a:prstGeom>
          <a:solidFill>
            <a:srgbClr val="172554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03720" y="1755648"/>
            <a:ext cx="4343400" cy="457200"/>
          </a:xfrm>
          <a:prstGeom prst="rect">
            <a:avLst/>
          </a:prstGeom>
          <a:noFill/>
        </p:spPr>
        <p:txBody>
          <a:bodyPr wrap="square" lIns="64008" rIns="64008" tIns="36576" bIns="2743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TO-BE / Dengan ARSIPKU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95728"/>
            <a:ext cx="2057400" cy="658368"/>
          </a:xfrm>
          <a:prstGeom prst="rect">
            <a:avLst/>
          </a:prstGeom>
          <a:solidFill>
            <a:srgbClr val="F8FAFF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505456"/>
            <a:ext cx="1874519" cy="457200"/>
          </a:xfrm>
          <a:prstGeom prst="rect">
            <a:avLst/>
          </a:prstGeom>
          <a:noFill/>
        </p:spPr>
        <p:txBody>
          <a:bodyPr wrap="square" lIns="64008" rIns="64008" tIns="36576" bIns="27432" anchor="ctr">
            <a:spAutoFit/>
          </a:bodyPr>
          <a:lstStyle/>
          <a:p>
            <a:pPr algn="l"/>
            <a:r>
              <a:rPr sz="1100" b="0">
                <a:solidFill>
                  <a:srgbClr val="172033"/>
                </a:solidFill>
                <a:latin typeface="Aptos"/>
              </a:rPr>
              <a:t>Penyimpanan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80360" y="2395728"/>
            <a:ext cx="3840480" cy="658368"/>
          </a:xfrm>
          <a:prstGeom prst="rect">
            <a:avLst/>
          </a:prstGeom>
          <a:solidFill>
            <a:srgbClr val="F8FAFF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71800" y="2505456"/>
            <a:ext cx="3657600" cy="457200"/>
          </a:xfrm>
          <a:prstGeom prst="rect">
            <a:avLst/>
          </a:prstGeom>
          <a:noFill/>
        </p:spPr>
        <p:txBody>
          <a:bodyPr wrap="square" lIns="64008" rIns="64008" tIns="36576" bIns="27432" anchor="ctr">
            <a:spAutoFit/>
          </a:bodyPr>
          <a:lstStyle/>
          <a:p>
            <a:pPr algn="l"/>
            <a:r>
              <a:rPr sz="1100" b="0">
                <a:solidFill>
                  <a:srgbClr val="172033"/>
                </a:solidFill>
                <a:latin typeface="Aptos"/>
              </a:rPr>
              <a:t>File berada di berbagai tempat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12280" y="2395728"/>
            <a:ext cx="4526280" cy="658368"/>
          </a:xfrm>
          <a:prstGeom prst="rect">
            <a:avLst/>
          </a:prstGeom>
          <a:solidFill>
            <a:srgbClr val="F8FAFF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03720" y="2505456"/>
            <a:ext cx="4343400" cy="457200"/>
          </a:xfrm>
          <a:prstGeom prst="rect">
            <a:avLst/>
          </a:prstGeom>
          <a:noFill/>
        </p:spPr>
        <p:txBody>
          <a:bodyPr wrap="square" lIns="64008" rIns="64008" tIns="36576" bIns="27432" anchor="ctr">
            <a:spAutoFit/>
          </a:bodyPr>
          <a:lstStyle/>
          <a:p>
            <a:pPr algn="l"/>
            <a:r>
              <a:rPr sz="1100" b="0">
                <a:solidFill>
                  <a:srgbClr val="172033"/>
                </a:solidFill>
                <a:latin typeface="Aptos"/>
              </a:rPr>
              <a:t>Daftar arsip ditampilkan dalam satu aplikasi demo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45536"/>
            <a:ext cx="20574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255264"/>
            <a:ext cx="1874519" cy="457200"/>
          </a:xfrm>
          <a:prstGeom prst="rect">
            <a:avLst/>
          </a:prstGeom>
          <a:noFill/>
        </p:spPr>
        <p:txBody>
          <a:bodyPr wrap="square" lIns="64008" rIns="64008" tIns="36576" bIns="27432" anchor="ctr">
            <a:spAutoFit/>
          </a:bodyPr>
          <a:lstStyle/>
          <a:p>
            <a:pPr algn="l"/>
            <a:r>
              <a:rPr sz="1100" b="0">
                <a:solidFill>
                  <a:srgbClr val="172033"/>
                </a:solidFill>
                <a:latin typeface="Aptos"/>
              </a:rPr>
              <a:t>Pengelompokan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80360" y="3145536"/>
            <a:ext cx="38404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3255264"/>
            <a:ext cx="3657600" cy="457200"/>
          </a:xfrm>
          <a:prstGeom prst="rect">
            <a:avLst/>
          </a:prstGeom>
          <a:noFill/>
        </p:spPr>
        <p:txBody>
          <a:bodyPr wrap="square" lIns="64008" rIns="64008" tIns="36576" bIns="27432" anchor="ctr">
            <a:spAutoFit/>
          </a:bodyPr>
          <a:lstStyle/>
          <a:p>
            <a:pPr algn="l"/>
            <a:r>
              <a:rPr sz="1100" b="0">
                <a:solidFill>
                  <a:srgbClr val="172033"/>
                </a:solidFill>
                <a:latin typeface="Aptos"/>
              </a:rPr>
              <a:t>Kategori dibuat tidak konsisten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12280" y="3145536"/>
            <a:ext cx="45262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03720" y="3255264"/>
            <a:ext cx="4343400" cy="457200"/>
          </a:xfrm>
          <a:prstGeom prst="rect">
            <a:avLst/>
          </a:prstGeom>
          <a:noFill/>
        </p:spPr>
        <p:txBody>
          <a:bodyPr wrap="square" lIns="64008" rIns="64008" tIns="36576" bIns="27432" anchor="ctr">
            <a:spAutoFit/>
          </a:bodyPr>
          <a:lstStyle/>
          <a:p>
            <a:pPr algn="l"/>
            <a:r>
              <a:rPr sz="1100" b="0">
                <a:solidFill>
                  <a:srgbClr val="172033"/>
                </a:solidFill>
                <a:latin typeface="Aptos"/>
              </a:rPr>
              <a:t>Dokumen dapat diberi kategori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895344"/>
            <a:ext cx="2057400" cy="658368"/>
          </a:xfrm>
          <a:prstGeom prst="rect">
            <a:avLst/>
          </a:prstGeom>
          <a:solidFill>
            <a:srgbClr val="F8FAFF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005072"/>
            <a:ext cx="1874519" cy="457200"/>
          </a:xfrm>
          <a:prstGeom prst="rect">
            <a:avLst/>
          </a:prstGeom>
          <a:noFill/>
        </p:spPr>
        <p:txBody>
          <a:bodyPr wrap="square" lIns="64008" rIns="64008" tIns="36576" bIns="27432" anchor="ctr">
            <a:spAutoFit/>
          </a:bodyPr>
          <a:lstStyle/>
          <a:p>
            <a:pPr algn="l"/>
            <a:r>
              <a:rPr sz="1100" b="0">
                <a:solidFill>
                  <a:srgbClr val="172033"/>
                </a:solidFill>
                <a:latin typeface="Aptos"/>
              </a:rPr>
              <a:t>Pencarian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80360" y="3895344"/>
            <a:ext cx="3840480" cy="658368"/>
          </a:xfrm>
          <a:prstGeom prst="rect">
            <a:avLst/>
          </a:prstGeom>
          <a:solidFill>
            <a:srgbClr val="F8FAFF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71800" y="4005072"/>
            <a:ext cx="3657600" cy="457200"/>
          </a:xfrm>
          <a:prstGeom prst="rect">
            <a:avLst/>
          </a:prstGeom>
          <a:noFill/>
        </p:spPr>
        <p:txBody>
          <a:bodyPr wrap="square" lIns="64008" rIns="64008" tIns="36576" bIns="27432" anchor="ctr">
            <a:spAutoFit/>
          </a:bodyPr>
          <a:lstStyle/>
          <a:p>
            <a:pPr algn="l"/>
            <a:r>
              <a:rPr sz="1100" b="0">
                <a:solidFill>
                  <a:srgbClr val="172033"/>
                </a:solidFill>
                <a:latin typeface="Aptos"/>
              </a:rPr>
              <a:t>Mencari manual dari folder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12280" y="3895344"/>
            <a:ext cx="4526280" cy="658368"/>
          </a:xfrm>
          <a:prstGeom prst="rect">
            <a:avLst/>
          </a:prstGeom>
          <a:solidFill>
            <a:srgbClr val="F8FAFF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03720" y="4005072"/>
            <a:ext cx="4343400" cy="457200"/>
          </a:xfrm>
          <a:prstGeom prst="rect">
            <a:avLst/>
          </a:prstGeom>
          <a:noFill/>
        </p:spPr>
        <p:txBody>
          <a:bodyPr wrap="square" lIns="64008" rIns="64008" tIns="36576" bIns="27432" anchor="ctr">
            <a:spAutoFit/>
          </a:bodyPr>
          <a:lstStyle/>
          <a:p>
            <a:pPr algn="l"/>
            <a:r>
              <a:rPr sz="1100" b="0">
                <a:solidFill>
                  <a:srgbClr val="172033"/>
                </a:solidFill>
                <a:latin typeface="Aptos"/>
              </a:rPr>
              <a:t>Tersedia kolom pencarian di antarmuka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645152"/>
            <a:ext cx="20574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754880"/>
            <a:ext cx="1874519" cy="457200"/>
          </a:xfrm>
          <a:prstGeom prst="rect">
            <a:avLst/>
          </a:prstGeom>
          <a:noFill/>
        </p:spPr>
        <p:txBody>
          <a:bodyPr wrap="square" lIns="64008" rIns="64008" tIns="36576" bIns="27432" anchor="ctr">
            <a:spAutoFit/>
          </a:bodyPr>
          <a:lstStyle/>
          <a:p>
            <a:pPr algn="l"/>
            <a:r>
              <a:rPr sz="1100" b="0">
                <a:solidFill>
                  <a:srgbClr val="172033"/>
                </a:solidFill>
                <a:latin typeface="Aptos"/>
              </a:rPr>
              <a:t>Pengelolaan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80360" y="4645152"/>
            <a:ext cx="38404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71800" y="4754880"/>
            <a:ext cx="3657600" cy="457200"/>
          </a:xfrm>
          <a:prstGeom prst="rect">
            <a:avLst/>
          </a:prstGeom>
          <a:noFill/>
        </p:spPr>
        <p:txBody>
          <a:bodyPr wrap="square" lIns="64008" rIns="64008" tIns="36576" bIns="27432" anchor="ctr">
            <a:spAutoFit/>
          </a:bodyPr>
          <a:lstStyle/>
          <a:p>
            <a:pPr algn="l"/>
            <a:r>
              <a:rPr sz="1100" b="0">
                <a:solidFill>
                  <a:srgbClr val="172033"/>
                </a:solidFill>
                <a:latin typeface="Aptos"/>
              </a:rPr>
              <a:t>Sulit melihat ringkasan file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12280" y="4645152"/>
            <a:ext cx="45262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03720" y="4754880"/>
            <a:ext cx="4343400" cy="457200"/>
          </a:xfrm>
          <a:prstGeom prst="rect">
            <a:avLst/>
          </a:prstGeom>
          <a:noFill/>
        </p:spPr>
        <p:txBody>
          <a:bodyPr wrap="square" lIns="64008" rIns="64008" tIns="36576" bIns="27432" anchor="ctr">
            <a:spAutoFit/>
          </a:bodyPr>
          <a:lstStyle/>
          <a:p>
            <a:pPr algn="l"/>
            <a:r>
              <a:rPr sz="1100" b="0">
                <a:solidFill>
                  <a:srgbClr val="172033"/>
                </a:solidFill>
                <a:latin typeface="Aptos"/>
              </a:rPr>
              <a:t>Ada halaman dashboard dan arsip saya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2700" b="1">
                <a:solidFill>
                  <a:srgbClr val="172554"/>
                </a:solidFill>
                <a:latin typeface="Aptos"/>
              </a:rPr>
              <a:t>Tujuan Sistem ARSIPKU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347472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Tujuan yang diturunkan dari masalah pengguna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713232" cy="50292"/>
          </a:xfrm>
          <a:prstGeom prst="rect">
            <a:avLst/>
          </a:prstGeom>
          <a:solidFill>
            <a:srgbClr val="315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68580" cy="1645920"/>
          </a:xfrm>
          <a:prstGeom prst="rect">
            <a:avLst/>
          </a:prstGeom>
          <a:solidFill>
            <a:srgbClr val="315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11095"/>
            <a:ext cx="3063240" cy="347472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500" b="1">
                <a:solidFill>
                  <a:srgbClr val="172554"/>
                </a:solidFill>
                <a:latin typeface="Aptos"/>
              </a:rPr>
              <a:t>Terorganisasi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13432"/>
            <a:ext cx="3063240" cy="1024128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200" b="0">
                <a:solidFill>
                  <a:srgbClr val="172033"/>
                </a:solidFill>
                <a:latin typeface="Aptos"/>
              </a:rPr>
              <a:t>Menyediakan kategori untuk membantu mengelompokkan dokumen.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783080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7408" y="1783080"/>
            <a:ext cx="68580" cy="164592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911095"/>
            <a:ext cx="3063240" cy="347472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500" b="1">
                <a:solidFill>
                  <a:srgbClr val="172554"/>
                </a:solidFill>
                <a:latin typeface="Aptos"/>
              </a:rPr>
              <a:t>Mudah ditelusuri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313432"/>
            <a:ext cx="3063240" cy="1024128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200" b="0">
                <a:solidFill>
                  <a:srgbClr val="172033"/>
                </a:solidFill>
                <a:latin typeface="Aptos"/>
              </a:rPr>
              <a:t>Menyediakan kolom pencarian dan halaman arsip.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83080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783080"/>
            <a:ext cx="68580" cy="1645920"/>
          </a:xfrm>
          <a:prstGeom prst="rect">
            <a:avLst/>
          </a:prstGeom>
          <a:solidFill>
            <a:srgbClr val="E6A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911095"/>
            <a:ext cx="3063240" cy="347472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500" b="1">
                <a:solidFill>
                  <a:srgbClr val="172554"/>
                </a:solidFill>
                <a:latin typeface="Aptos"/>
              </a:rPr>
              <a:t>Mudah digunakan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313432"/>
            <a:ext cx="3063240" cy="1024128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200" b="0">
                <a:solidFill>
                  <a:srgbClr val="172033"/>
                </a:solidFill>
                <a:latin typeface="Aptos"/>
              </a:rPr>
              <a:t>Menjaga menu utama tetap jelas: Dashboard, Arsip Saya, Kategori, Tambah Dokumen.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160520"/>
            <a:ext cx="10241280" cy="73152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ctr"/>
            <a:r>
              <a:rPr sz="1500" b="1">
                <a:solidFill>
                  <a:srgbClr val="C43D4B"/>
                </a:solidFill>
                <a:latin typeface="Aptos"/>
              </a:rPr>
              <a:t>Tujuan prototipe adalah menunjukkan alur dan antarmuka dasar. Penyimpanan bersama secara online belum menjadi bagian dari demo saat ini.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2700" b="1">
                <a:solidFill>
                  <a:srgbClr val="172554"/>
                </a:solidFill>
                <a:latin typeface="Aptos"/>
              </a:rPr>
              <a:t>Tahap 2 — Analisis Stakeholder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347472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Pengguna utama dan pihak yang terkait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713232" cy="50292"/>
          </a:xfrm>
          <a:prstGeom prst="rect">
            <a:avLst/>
          </a:prstGeom>
          <a:solidFill>
            <a:srgbClr val="315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37360"/>
            <a:ext cx="50292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37360"/>
            <a:ext cx="68580" cy="1920240"/>
          </a:xfrm>
          <a:prstGeom prst="rect">
            <a:avLst/>
          </a:prstGeom>
          <a:solidFill>
            <a:srgbClr val="315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65376"/>
            <a:ext cx="4709160" cy="347472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500" b="1">
                <a:solidFill>
                  <a:srgbClr val="172554"/>
                </a:solidFill>
                <a:latin typeface="Aptos"/>
              </a:rPr>
              <a:t>Mahasiswa / pengguna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67712"/>
            <a:ext cx="4709160" cy="1298448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200" b="0">
                <a:solidFill>
                  <a:srgbClr val="172033"/>
                </a:solidFill>
                <a:latin typeface="Aptos"/>
              </a:rPr>
              <a:t>Mengakses aplikasi, membuat akun demo, menambah dokumen, mengelompokkan, mencari, dan mengelola arsip.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737360"/>
            <a:ext cx="50292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737360"/>
            <a:ext cx="68580" cy="19202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865376"/>
            <a:ext cx="4709160" cy="347472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500" b="1">
                <a:solidFill>
                  <a:srgbClr val="172554"/>
                </a:solidFill>
                <a:latin typeface="Aptos"/>
              </a:rPr>
              <a:t>Pengembang / perancang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267712"/>
            <a:ext cx="4709160" cy="1298448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200" b="0">
                <a:solidFill>
                  <a:srgbClr val="172033"/>
                </a:solidFill>
                <a:latin typeface="Aptos"/>
              </a:rPr>
              <a:t>Merancang tampilan, alur interaksi, penyimpanan lokal, dan melakukan perbaikan dari hasil pengujian.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43400"/>
            <a:ext cx="10241280" cy="50292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700" b="1">
                <a:solidFill>
                  <a:srgbClr val="172554"/>
                </a:solidFill>
                <a:latin typeface="Aptos"/>
              </a:rPr>
              <a:t>Hak akses pada demo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00600"/>
            <a:ext cx="10058400" cy="10972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•  Login dan daftar menggunakan form akun demo.</a:t>
            </a:r>
          </a:p>
          <a:p>
            <a:pPr>
              <a:spcAft>
                <a:spcPts val="5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•  Menu aplikasi muncul setelah pengguna masuk.</a:t>
            </a:r>
          </a:p>
          <a:p>
            <a:pPr>
              <a:spcAft>
                <a:spcPts val="5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•  Data demo berada di browser/perangkat yang digunakan; bukan repositori bersama.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2700" b="1">
                <a:solidFill>
                  <a:srgbClr val="172554"/>
                </a:solidFill>
                <a:latin typeface="Aptos"/>
              </a:rPr>
              <a:t>Tahap 3 — Kebutuhan Fungsional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347472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Fungsi yang terlihat pada web aplikasi ARSIPKU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713232" cy="50292"/>
          </a:xfrm>
          <a:prstGeom prst="rect">
            <a:avLst/>
          </a:prstGeom>
          <a:solidFill>
            <a:srgbClr val="315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5074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00200"/>
            <a:ext cx="68580" cy="960120"/>
          </a:xfrm>
          <a:prstGeom prst="rect">
            <a:avLst/>
          </a:prstGeom>
          <a:solidFill>
            <a:srgbClr val="315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28216"/>
            <a:ext cx="4754880" cy="347472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500" b="1">
                <a:solidFill>
                  <a:srgbClr val="172554"/>
                </a:solidFill>
                <a:latin typeface="Aptos"/>
              </a:rPr>
              <a:t>F01 — 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130552"/>
            <a:ext cx="4754880" cy="338328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100" b="0">
                <a:solidFill>
                  <a:srgbClr val="172033"/>
                </a:solidFill>
                <a:latin typeface="Aptos"/>
              </a:rPr>
              <a:t>Form email dan password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00200"/>
            <a:ext cx="5074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600200"/>
            <a:ext cx="68580" cy="96012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728216"/>
            <a:ext cx="4754880" cy="347472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500" b="1">
                <a:solidFill>
                  <a:srgbClr val="172554"/>
                </a:solidFill>
                <a:latin typeface="Aptos"/>
              </a:rPr>
              <a:t>F02 — Daftar akun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130552"/>
            <a:ext cx="4754880" cy="338328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100" b="0">
                <a:solidFill>
                  <a:srgbClr val="172033"/>
                </a:solidFill>
                <a:latin typeface="Aptos"/>
              </a:rPr>
              <a:t>Nama lengkap, email, password, konfirmasi password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770632"/>
            <a:ext cx="5074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2770632"/>
            <a:ext cx="68580" cy="960120"/>
          </a:xfrm>
          <a:prstGeom prst="rect">
            <a:avLst/>
          </a:prstGeom>
          <a:solidFill>
            <a:srgbClr val="315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2898648"/>
            <a:ext cx="4754880" cy="347472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500" b="1">
                <a:solidFill>
                  <a:srgbClr val="172554"/>
                </a:solidFill>
                <a:latin typeface="Aptos"/>
              </a:rPr>
              <a:t>F03 —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300984"/>
            <a:ext cx="4754880" cy="338328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100" b="0">
                <a:solidFill>
                  <a:srgbClr val="172033"/>
                </a:solidFill>
                <a:latin typeface="Aptos"/>
              </a:rPr>
              <a:t>Halaman awal setelah masuk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770632"/>
            <a:ext cx="5074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2770632"/>
            <a:ext cx="68580" cy="96012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898648"/>
            <a:ext cx="4754880" cy="347472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500" b="1">
                <a:solidFill>
                  <a:srgbClr val="172554"/>
                </a:solidFill>
                <a:latin typeface="Aptos"/>
              </a:rPr>
              <a:t>F04 — Arsip Saya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300984"/>
            <a:ext cx="4754880" cy="338328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100" b="0">
                <a:solidFill>
                  <a:srgbClr val="172033"/>
                </a:solidFill>
                <a:latin typeface="Aptos"/>
              </a:rPr>
              <a:t>Melihat daftar dokumen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941064"/>
            <a:ext cx="5074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3941064"/>
            <a:ext cx="68580" cy="960120"/>
          </a:xfrm>
          <a:prstGeom prst="rect">
            <a:avLst/>
          </a:prstGeom>
          <a:solidFill>
            <a:srgbClr val="315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069080"/>
            <a:ext cx="4754880" cy="347472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500" b="1">
                <a:solidFill>
                  <a:srgbClr val="172554"/>
                </a:solidFill>
                <a:latin typeface="Aptos"/>
              </a:rPr>
              <a:t>F05 — Kategori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471416"/>
            <a:ext cx="4754880" cy="338328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100" b="0">
                <a:solidFill>
                  <a:srgbClr val="172033"/>
                </a:solidFill>
                <a:latin typeface="Aptos"/>
              </a:rPr>
              <a:t>Mengakses pengelompokan dokumen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941064"/>
            <a:ext cx="5074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3941064"/>
            <a:ext cx="68580" cy="96012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069080"/>
            <a:ext cx="4754880" cy="347472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500" b="1">
                <a:solidFill>
                  <a:srgbClr val="172554"/>
                </a:solidFill>
                <a:latin typeface="Aptos"/>
              </a:rPr>
              <a:t>F06 — Tambah Dokumen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471416"/>
            <a:ext cx="4754880" cy="338328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100" b="0">
                <a:solidFill>
                  <a:srgbClr val="172033"/>
                </a:solidFill>
                <a:latin typeface="Aptos"/>
              </a:rPr>
              <a:t>Memulai alur unggah/penambahan dokumen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5111496"/>
            <a:ext cx="5074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111496"/>
            <a:ext cx="68580" cy="960120"/>
          </a:xfrm>
          <a:prstGeom prst="rect">
            <a:avLst/>
          </a:prstGeom>
          <a:solidFill>
            <a:srgbClr val="315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5239512"/>
            <a:ext cx="4754880" cy="347472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500" b="1">
                <a:solidFill>
                  <a:srgbClr val="172554"/>
                </a:solidFill>
                <a:latin typeface="Aptos"/>
              </a:rPr>
              <a:t>F07 — Keluar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5641848"/>
            <a:ext cx="4754880" cy="338328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100" b="0">
                <a:solidFill>
                  <a:srgbClr val="172033"/>
                </a:solidFill>
                <a:latin typeface="Aptos"/>
              </a:rPr>
              <a:t>Keluar dari sesi aplikasi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2700" b="1">
                <a:solidFill>
                  <a:srgbClr val="172554"/>
                </a:solidFill>
                <a:latin typeface="Aptos"/>
              </a:rPr>
              <a:t>Kebutuhan Nonfungsional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347472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Kualitas antarmuka dan batas penggunaan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713232" cy="50292"/>
          </a:xfrm>
          <a:prstGeom prst="rect">
            <a:avLst/>
          </a:prstGeom>
          <a:solidFill>
            <a:srgbClr val="315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37360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37360"/>
            <a:ext cx="68580" cy="1645920"/>
          </a:xfrm>
          <a:prstGeom prst="rect">
            <a:avLst/>
          </a:prstGeom>
          <a:solidFill>
            <a:srgbClr val="315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65376"/>
            <a:ext cx="3063240" cy="347472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500" b="1">
                <a:solidFill>
                  <a:srgbClr val="172554"/>
                </a:solidFill>
                <a:latin typeface="Aptos"/>
              </a:rPr>
              <a:t>Responsif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67712"/>
            <a:ext cx="3063240" cy="1024128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200" b="0">
                <a:solidFill>
                  <a:srgbClr val="172033"/>
                </a:solidFill>
                <a:latin typeface="Aptos"/>
              </a:rPr>
              <a:t>Tata letak dirancang menyesuaikan ukuran layar, tetapi tetap perlu diuji pada berbagai HP/browser.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737360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7408" y="1737360"/>
            <a:ext cx="68580" cy="164592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865376"/>
            <a:ext cx="3063240" cy="347472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500" b="1">
                <a:solidFill>
                  <a:srgbClr val="172554"/>
                </a:solidFill>
                <a:latin typeface="Aptos"/>
              </a:rPr>
              <a:t>Mudah dipahami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267712"/>
            <a:ext cx="3063240" cy="1024128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200" b="0">
                <a:solidFill>
                  <a:srgbClr val="172033"/>
                </a:solidFill>
                <a:latin typeface="Aptos"/>
              </a:rPr>
              <a:t>Label navigasi dan tombol menggunakan istilah yang langsung menjelaskan fungsi.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37360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737360"/>
            <a:ext cx="68580" cy="1645920"/>
          </a:xfrm>
          <a:prstGeom prst="rect">
            <a:avLst/>
          </a:prstGeom>
          <a:solidFill>
            <a:srgbClr val="C43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865376"/>
            <a:ext cx="3063240" cy="347472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500" b="1">
                <a:solidFill>
                  <a:srgbClr val="172554"/>
                </a:solidFill>
                <a:latin typeface="Aptos"/>
              </a:rPr>
              <a:t>Privasi &amp; keamanan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267712"/>
            <a:ext cx="3063240" cy="1024128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200" b="0">
                <a:solidFill>
                  <a:srgbClr val="172033"/>
                </a:solidFill>
                <a:latin typeface="Aptos"/>
              </a:rPr>
              <a:t>Demo lokal bukan sistem produksi; jangan gunakan dokumen sensitif atau password penting.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069080"/>
            <a:ext cx="10241280" cy="73152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ctr"/>
            <a:r>
              <a:rPr sz="1600" b="1">
                <a:solidFill>
                  <a:srgbClr val="172554"/>
                </a:solidFill>
                <a:latin typeface="Aptos"/>
              </a:rPr>
              <a:t>Catatan implementasi: demo HTML menyimpan data pada sisi browser. Belum ada autentikasi server atau database cloud.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2700" b="1">
                <a:solidFill>
                  <a:srgbClr val="172554"/>
                </a:solidFill>
                <a:latin typeface="Aptos"/>
              </a:rPr>
              <a:t>Pemodelan Sistem — Use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347472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Aktor utama dan fungsi yang dilakukan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713232" cy="50292"/>
          </a:xfrm>
          <a:prstGeom prst="rect">
            <a:avLst/>
          </a:prstGeom>
          <a:solidFill>
            <a:srgbClr val="315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743200"/>
            <a:ext cx="15087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3157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807208"/>
            <a:ext cx="1362456" cy="850392"/>
          </a:xfrm>
          <a:prstGeom prst="rect">
            <a:avLst/>
          </a:prstGeom>
          <a:noFill/>
        </p:spPr>
        <p:txBody>
          <a:bodyPr wrap="square" lIns="64008" rIns="64008" tIns="36576" bIns="27432" anchor="ctr">
            <a:spAutoFit/>
          </a:bodyPr>
          <a:lstStyle/>
          <a:p>
            <a:pPr algn="ctr"/>
            <a:r>
              <a:rPr sz="1400" b="1">
                <a:solidFill>
                  <a:srgbClr val="172554"/>
                </a:solidFill>
                <a:latin typeface="Aptos"/>
              </a:rPr>
              <a:t>Mahasiswa</a:t>
            </a:r>
          </a:p>
        </p:txBody>
      </p:sp>
      <p:sp>
        <p:nvSpPr>
          <p:cNvPr id="9" name="Oval 8"/>
          <p:cNvSpPr/>
          <p:nvPr/>
        </p:nvSpPr>
        <p:spPr>
          <a:xfrm>
            <a:off x="3200400" y="1645920"/>
            <a:ext cx="1920240" cy="822960"/>
          </a:xfrm>
          <a:prstGeom prst="ellipse">
            <a:avLst/>
          </a:prstGeom>
          <a:solidFill>
            <a:srgbClr val="FFFFFF"/>
          </a:solidFill>
          <a:ln>
            <a:solidFill>
              <a:srgbClr val="3157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810512"/>
            <a:ext cx="1737360" cy="457200"/>
          </a:xfrm>
          <a:prstGeom prst="rect">
            <a:avLst/>
          </a:prstGeom>
          <a:noFill/>
        </p:spPr>
        <p:txBody>
          <a:bodyPr wrap="square" lIns="64008" rIns="64008" tIns="36576" bIns="27432" anchor="ctr">
            <a:spAutoFit/>
          </a:bodyPr>
          <a:lstStyle/>
          <a:p>
            <a:pPr algn="ctr"/>
            <a:r>
              <a:rPr sz="1100" b="1">
                <a:solidFill>
                  <a:srgbClr val="172554"/>
                </a:solidFill>
                <a:latin typeface="Aptos"/>
              </a:rPr>
              <a:t>Daftar / Login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2286000" y="2057400"/>
            <a:ext cx="914400" cy="1143000"/>
          </a:xfrm>
          <a:prstGeom prst="line">
            <a:avLst/>
          </a:prstGeom>
          <a:ln w="12700">
            <a:solidFill>
              <a:srgbClr val="879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5623560" y="1645920"/>
            <a:ext cx="1920240" cy="822960"/>
          </a:xfrm>
          <a:prstGeom prst="ellipse">
            <a:avLst/>
          </a:prstGeom>
          <a:solidFill>
            <a:srgbClr val="FFFFFF"/>
          </a:solidFill>
          <a:ln>
            <a:solidFill>
              <a:srgbClr val="3157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15000" y="1810512"/>
            <a:ext cx="1737360" cy="457200"/>
          </a:xfrm>
          <a:prstGeom prst="rect">
            <a:avLst/>
          </a:prstGeom>
          <a:noFill/>
        </p:spPr>
        <p:txBody>
          <a:bodyPr wrap="square" lIns="64008" rIns="64008" tIns="36576" bIns="27432" anchor="ctr">
            <a:spAutoFit/>
          </a:bodyPr>
          <a:lstStyle/>
          <a:p>
            <a:pPr algn="ctr"/>
            <a:r>
              <a:rPr sz="1100" b="1">
                <a:solidFill>
                  <a:srgbClr val="172554"/>
                </a:solidFill>
                <a:latin typeface="Aptos"/>
              </a:rPr>
              <a:t>Buka Dashboard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2286000" y="2057400"/>
            <a:ext cx="3337560" cy="1143000"/>
          </a:xfrm>
          <a:prstGeom prst="line">
            <a:avLst/>
          </a:prstGeom>
          <a:ln w="12700">
            <a:solidFill>
              <a:srgbClr val="879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046720" y="1645920"/>
            <a:ext cx="1920240" cy="822960"/>
          </a:xfrm>
          <a:prstGeom prst="ellipse">
            <a:avLst/>
          </a:prstGeom>
          <a:solidFill>
            <a:srgbClr val="FFFFFF"/>
          </a:solidFill>
          <a:ln>
            <a:solidFill>
              <a:srgbClr val="3157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1810512"/>
            <a:ext cx="1737360" cy="457200"/>
          </a:xfrm>
          <a:prstGeom prst="rect">
            <a:avLst/>
          </a:prstGeom>
          <a:noFill/>
        </p:spPr>
        <p:txBody>
          <a:bodyPr wrap="square" lIns="64008" rIns="64008" tIns="36576" bIns="27432" anchor="ctr">
            <a:spAutoFit/>
          </a:bodyPr>
          <a:lstStyle/>
          <a:p>
            <a:pPr algn="ctr"/>
            <a:r>
              <a:rPr sz="1100" b="1">
                <a:solidFill>
                  <a:srgbClr val="172554"/>
                </a:solidFill>
                <a:latin typeface="Aptos"/>
              </a:rPr>
              <a:t>Lihat Arsip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2286000" y="2057400"/>
            <a:ext cx="5760720" cy="1143000"/>
          </a:xfrm>
          <a:prstGeom prst="line">
            <a:avLst/>
          </a:prstGeom>
          <a:ln w="12700">
            <a:solidFill>
              <a:srgbClr val="879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3200400" y="3840480"/>
            <a:ext cx="1920240" cy="822960"/>
          </a:xfrm>
          <a:prstGeom prst="ellipse">
            <a:avLst/>
          </a:prstGeom>
          <a:solidFill>
            <a:srgbClr val="FFFFFF"/>
          </a:solidFill>
          <a:ln>
            <a:solidFill>
              <a:srgbClr val="3157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0" y="4005072"/>
            <a:ext cx="1737360" cy="457200"/>
          </a:xfrm>
          <a:prstGeom prst="rect">
            <a:avLst/>
          </a:prstGeom>
          <a:noFill/>
        </p:spPr>
        <p:txBody>
          <a:bodyPr wrap="square" lIns="64008" rIns="64008" tIns="36576" bIns="27432" anchor="ctr">
            <a:spAutoFit/>
          </a:bodyPr>
          <a:lstStyle/>
          <a:p>
            <a:pPr algn="ctr"/>
            <a:r>
              <a:rPr sz="1100" b="1">
                <a:solidFill>
                  <a:srgbClr val="172554"/>
                </a:solidFill>
                <a:latin typeface="Aptos"/>
              </a:rPr>
              <a:t>Kelola Kategori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286000" y="3200400"/>
            <a:ext cx="914400" cy="1051560"/>
          </a:xfrm>
          <a:prstGeom prst="line">
            <a:avLst/>
          </a:prstGeom>
          <a:ln w="12700">
            <a:solidFill>
              <a:srgbClr val="879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5623560" y="3840480"/>
            <a:ext cx="1920240" cy="822960"/>
          </a:xfrm>
          <a:prstGeom prst="ellipse">
            <a:avLst/>
          </a:prstGeom>
          <a:solidFill>
            <a:srgbClr val="FFFFFF"/>
          </a:solidFill>
          <a:ln>
            <a:solidFill>
              <a:srgbClr val="3157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5000" y="4005072"/>
            <a:ext cx="1737360" cy="457200"/>
          </a:xfrm>
          <a:prstGeom prst="rect">
            <a:avLst/>
          </a:prstGeom>
          <a:noFill/>
        </p:spPr>
        <p:txBody>
          <a:bodyPr wrap="square" lIns="64008" rIns="64008" tIns="36576" bIns="27432" anchor="ctr">
            <a:spAutoFit/>
          </a:bodyPr>
          <a:lstStyle/>
          <a:p>
            <a:pPr algn="ctr"/>
            <a:r>
              <a:rPr sz="1100" b="1">
                <a:solidFill>
                  <a:srgbClr val="172554"/>
                </a:solidFill>
                <a:latin typeface="Aptos"/>
              </a:rPr>
              <a:t>Tambah Dokumen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286000" y="3200400"/>
            <a:ext cx="3337560" cy="1051560"/>
          </a:xfrm>
          <a:prstGeom prst="line">
            <a:avLst/>
          </a:prstGeom>
          <a:ln w="12700">
            <a:solidFill>
              <a:srgbClr val="879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8046720" y="3840480"/>
            <a:ext cx="1920240" cy="822960"/>
          </a:xfrm>
          <a:prstGeom prst="ellipse">
            <a:avLst/>
          </a:prstGeom>
          <a:solidFill>
            <a:srgbClr val="FFFFFF"/>
          </a:solidFill>
          <a:ln>
            <a:solidFill>
              <a:srgbClr val="3157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0" y="4005072"/>
            <a:ext cx="1737360" cy="457200"/>
          </a:xfrm>
          <a:prstGeom prst="rect">
            <a:avLst/>
          </a:prstGeom>
          <a:noFill/>
        </p:spPr>
        <p:txBody>
          <a:bodyPr wrap="square" lIns="64008" rIns="64008" tIns="36576" bIns="27432" anchor="ctr">
            <a:spAutoFit/>
          </a:bodyPr>
          <a:lstStyle/>
          <a:p>
            <a:pPr algn="ctr"/>
            <a:r>
              <a:rPr sz="1100" b="1">
                <a:solidFill>
                  <a:srgbClr val="172554"/>
                </a:solidFill>
                <a:latin typeface="Aptos"/>
              </a:rPr>
              <a:t>Keluar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286000" y="3200400"/>
            <a:ext cx="5760720" cy="1051560"/>
          </a:xfrm>
          <a:prstGeom prst="line">
            <a:avLst/>
          </a:prstGeom>
          <a:ln w="12700">
            <a:solidFill>
              <a:srgbClr val="879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5349240"/>
            <a:ext cx="10241280" cy="41148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Aptos"/>
              </a:rPr>
              <a:t>Use case menggambarkan fungsi antarmuka yang tersedia pada prototipe; bukan bukti bahwa sistem sudah memiliki backend online.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2700" b="1">
                <a:solidFill>
                  <a:srgbClr val="172554"/>
                </a:solidFill>
                <a:latin typeface="Aptos"/>
              </a:rPr>
              <a:t>Pemodelan Proses — Activity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347472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Alur dasar dari membuka aplikasi sampai mengelola arsip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713232" cy="50292"/>
          </a:xfrm>
          <a:prstGeom prst="rect">
            <a:avLst/>
          </a:prstGeom>
          <a:solidFill>
            <a:srgbClr val="315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77440"/>
            <a:ext cx="1691640" cy="960120"/>
          </a:xfrm>
          <a:prstGeom prst="roundRect">
            <a:avLst/>
          </a:prstGeom>
          <a:solidFill>
            <a:srgbClr val="F8FAFF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1" y="2441448"/>
            <a:ext cx="1545336" cy="850392"/>
          </a:xfrm>
          <a:prstGeom prst="rect">
            <a:avLst/>
          </a:prstGeom>
          <a:noFill/>
        </p:spPr>
        <p:txBody>
          <a:bodyPr wrap="square" lIns="64008" rIns="64008" tIns="36576" bIns="27432" anchor="ctr">
            <a:spAutoFit/>
          </a:bodyPr>
          <a:lstStyle/>
          <a:p>
            <a:pPr algn="ctr"/>
            <a:r>
              <a:rPr sz="1200" b="1">
                <a:solidFill>
                  <a:srgbClr val="172554"/>
                </a:solidFill>
                <a:latin typeface="Aptos"/>
              </a:rPr>
              <a:t>Buka ARSIPKU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50008" y="2852928"/>
            <a:ext cx="301752" cy="0"/>
          </a:xfrm>
          <a:prstGeom prst="line">
            <a:avLst/>
          </a:prstGeom>
          <a:ln w="22860">
            <a:solidFill>
              <a:srgbClr val="3157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43200" y="2377440"/>
            <a:ext cx="1691640" cy="960120"/>
          </a:xfrm>
          <a:prstGeom prst="roundRect">
            <a:avLst/>
          </a:prstGeom>
          <a:solidFill>
            <a:srgbClr val="F8FAFF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16352" y="2441448"/>
            <a:ext cx="1545336" cy="850392"/>
          </a:xfrm>
          <a:prstGeom prst="rect">
            <a:avLst/>
          </a:prstGeom>
          <a:noFill/>
        </p:spPr>
        <p:txBody>
          <a:bodyPr wrap="square" lIns="64008" rIns="64008" tIns="36576" bIns="27432" anchor="ctr">
            <a:spAutoFit/>
          </a:bodyPr>
          <a:lstStyle/>
          <a:p>
            <a:pPr algn="ctr"/>
            <a:r>
              <a:rPr sz="1200" b="1">
                <a:solidFill>
                  <a:srgbClr val="172554"/>
                </a:solidFill>
                <a:latin typeface="Aptos"/>
              </a:rPr>
              <a:t>Login / Daftar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453128" y="2852928"/>
            <a:ext cx="301752" cy="0"/>
          </a:xfrm>
          <a:prstGeom prst="line">
            <a:avLst/>
          </a:prstGeom>
          <a:ln w="22860">
            <a:solidFill>
              <a:srgbClr val="3157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846320" y="2377440"/>
            <a:ext cx="1691640" cy="960120"/>
          </a:xfrm>
          <a:prstGeom prst="roundRect">
            <a:avLst/>
          </a:prstGeom>
          <a:solidFill>
            <a:srgbClr val="F8FAFF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19472" y="2441448"/>
            <a:ext cx="1545336" cy="850392"/>
          </a:xfrm>
          <a:prstGeom prst="rect">
            <a:avLst/>
          </a:prstGeom>
          <a:noFill/>
        </p:spPr>
        <p:txBody>
          <a:bodyPr wrap="square" lIns="64008" rIns="64008" tIns="36576" bIns="27432" anchor="ctr">
            <a:spAutoFit/>
          </a:bodyPr>
          <a:lstStyle/>
          <a:p>
            <a:pPr algn="ctr"/>
            <a:r>
              <a:rPr sz="1200" b="1">
                <a:solidFill>
                  <a:srgbClr val="172554"/>
                </a:solidFill>
                <a:latin typeface="Aptos"/>
              </a:rPr>
              <a:t>Dashboard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556248" y="2852928"/>
            <a:ext cx="301752" cy="0"/>
          </a:xfrm>
          <a:prstGeom prst="line">
            <a:avLst/>
          </a:prstGeom>
          <a:ln w="22860">
            <a:solidFill>
              <a:srgbClr val="3157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949440" y="2377440"/>
            <a:ext cx="1691640" cy="960120"/>
          </a:xfrm>
          <a:prstGeom prst="roundRect">
            <a:avLst/>
          </a:prstGeom>
          <a:solidFill>
            <a:srgbClr val="F8FAFF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22592" y="2441448"/>
            <a:ext cx="1545336" cy="850392"/>
          </a:xfrm>
          <a:prstGeom prst="rect">
            <a:avLst/>
          </a:prstGeom>
          <a:noFill/>
        </p:spPr>
        <p:txBody>
          <a:bodyPr wrap="square" lIns="64008" rIns="64008" tIns="36576" bIns="27432" anchor="ctr">
            <a:spAutoFit/>
          </a:bodyPr>
          <a:lstStyle/>
          <a:p>
            <a:pPr algn="ctr"/>
            <a:r>
              <a:rPr sz="1200" b="1">
                <a:solidFill>
                  <a:srgbClr val="172554"/>
                </a:solidFill>
                <a:latin typeface="Aptos"/>
              </a:rPr>
              <a:t>Pilih menu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659367" y="2852928"/>
            <a:ext cx="301753" cy="0"/>
          </a:xfrm>
          <a:prstGeom prst="line">
            <a:avLst/>
          </a:prstGeom>
          <a:ln w="22860">
            <a:solidFill>
              <a:srgbClr val="3157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052560" y="2377440"/>
            <a:ext cx="1691640" cy="960120"/>
          </a:xfrm>
          <a:prstGeom prst="roundRect">
            <a:avLst/>
          </a:prstGeom>
          <a:solidFill>
            <a:srgbClr val="F8FAFF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25712" y="2441448"/>
            <a:ext cx="1545336" cy="850392"/>
          </a:xfrm>
          <a:prstGeom prst="rect">
            <a:avLst/>
          </a:prstGeom>
          <a:noFill/>
        </p:spPr>
        <p:txBody>
          <a:bodyPr wrap="square" lIns="64008" rIns="64008" tIns="36576" bIns="27432" anchor="ctr">
            <a:spAutoFit/>
          </a:bodyPr>
          <a:lstStyle/>
          <a:p>
            <a:pPr algn="ctr"/>
            <a:r>
              <a:rPr sz="1200" b="1">
                <a:solidFill>
                  <a:srgbClr val="172554"/>
                </a:solidFill>
                <a:latin typeface="Aptos"/>
              </a:rPr>
              <a:t>Cari / tambah dokumen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4160520"/>
            <a:ext cx="2377440" cy="777240"/>
          </a:xfrm>
          <a:prstGeom prst="roundRect">
            <a:avLst/>
          </a:prstGeom>
          <a:solidFill>
            <a:srgbClr val="E6F7EF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30752" y="4224528"/>
            <a:ext cx="2231136" cy="667512"/>
          </a:xfrm>
          <a:prstGeom prst="rect">
            <a:avLst/>
          </a:prstGeom>
          <a:noFill/>
        </p:spPr>
        <p:txBody>
          <a:bodyPr wrap="square" lIns="64008" rIns="64008" tIns="36576" bIns="27432" anchor="ctr">
            <a:spAutoFit/>
          </a:bodyPr>
          <a:lstStyle/>
          <a:p>
            <a:pPr algn="ctr"/>
            <a:r>
              <a:rPr sz="1200" b="1">
                <a:solidFill>
                  <a:srgbClr val="16845B"/>
                </a:solidFill>
                <a:latin typeface="Aptos"/>
              </a:rPr>
              <a:t>Tindakan selesai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6035040" y="3383280"/>
            <a:ext cx="3840480" cy="1143000"/>
          </a:xfrm>
          <a:prstGeom prst="line">
            <a:avLst/>
          </a:prstGeom>
          <a:ln w="19050">
            <a:solidFill>
              <a:srgbClr val="1684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60120" y="5349240"/>
            <a:ext cx="10241280" cy="50292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Aptos"/>
              </a:rPr>
              <a:t>Contoh: pengguna membuka menu Arsip Saya untuk melihat daftar, atau Tambah Dokumen untuk memulai penambahan file.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2700" b="1">
                <a:solidFill>
                  <a:srgbClr val="172554"/>
                </a:solidFill>
                <a:latin typeface="Aptos"/>
              </a:rPr>
              <a:t>Model Data pada Prototipe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347472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Penjelasan penyimpanan yang benar-benar digunakan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713232" cy="50292"/>
          </a:xfrm>
          <a:prstGeom prst="rect">
            <a:avLst/>
          </a:prstGeom>
          <a:solidFill>
            <a:srgbClr val="315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3736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37360"/>
            <a:ext cx="68580" cy="1828800"/>
          </a:xfrm>
          <a:prstGeom prst="rect">
            <a:avLst/>
          </a:prstGeom>
          <a:solidFill>
            <a:srgbClr val="315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65376"/>
            <a:ext cx="3063240" cy="347472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500" b="1">
                <a:solidFill>
                  <a:srgbClr val="172554"/>
                </a:solidFill>
                <a:latin typeface="Aptos"/>
              </a:rPr>
              <a:t>Akun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67712"/>
            <a:ext cx="3063240" cy="1207007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200" b="0">
                <a:solidFill>
                  <a:srgbClr val="172033"/>
                </a:solidFill>
                <a:latin typeface="Aptos"/>
              </a:rPr>
              <a:t>Form pendaftaran/login menggunakan data akun yang disimpan pada browser (localStorage).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73736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7408" y="1737360"/>
            <a:ext cx="68580" cy="182880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865376"/>
            <a:ext cx="3063240" cy="347472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500" b="1">
                <a:solidFill>
                  <a:srgbClr val="172554"/>
                </a:solidFill>
                <a:latin typeface="Aptos"/>
              </a:rPr>
              <a:t>Dokumen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267712"/>
            <a:ext cx="3063240" cy="1207007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200" b="0">
                <a:solidFill>
                  <a:srgbClr val="172033"/>
                </a:solidFill>
                <a:latin typeface="Aptos"/>
              </a:rPr>
              <a:t>File demo disimpan di penyimpanan lokal browser/IndexedDB pada versi prototipe yang dibuat.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3736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737360"/>
            <a:ext cx="68580" cy="1828800"/>
          </a:xfrm>
          <a:prstGeom prst="rect">
            <a:avLst/>
          </a:prstGeom>
          <a:solidFill>
            <a:srgbClr val="E6A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865376"/>
            <a:ext cx="3063240" cy="347472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500" b="1">
                <a:solidFill>
                  <a:srgbClr val="172554"/>
                </a:solidFill>
                <a:latin typeface="Aptos"/>
              </a:rPr>
              <a:t>Kategori &amp; metadata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267712"/>
            <a:ext cx="3063240" cy="1207007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200" b="0">
                <a:solidFill>
                  <a:srgbClr val="172033"/>
                </a:solidFill>
                <a:latin typeface="Aptos"/>
              </a:rPr>
              <a:t>Informasi dokumen membantu menampilkan daftar dan mengelompokkan arsip dalam aplikasi.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60520"/>
            <a:ext cx="10241280" cy="82296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ctr"/>
            <a:r>
              <a:rPr sz="1600" b="1">
                <a:solidFill>
                  <a:srgbClr val="C43D4B"/>
                </a:solidFill>
                <a:latin typeface="Aptos"/>
              </a:rPr>
              <a:t>Penting: ini bukan rancangan database server (misalnya MySQL). Data tidak otomatis tersinkron antarperangkat dan tidak menjadi arsip bersama bagi semua pengguna.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2700" b="1">
                <a:solidFill>
                  <a:srgbClr val="172554"/>
                </a:solidFill>
                <a:latin typeface="Aptos"/>
              </a:rPr>
              <a:t>Rancangan Antarmuka — Login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347472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Layar awal sebelum pengguna masuk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713232" cy="50292"/>
          </a:xfrm>
          <a:prstGeom prst="rect">
            <a:avLst/>
          </a:prstGeom>
          <a:solidFill>
            <a:srgbClr val="315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658368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3017520" cy="4251960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965960"/>
            <a:ext cx="2377440" cy="32004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ARSIPKU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51760"/>
            <a:ext cx="2331720" cy="96012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Semua dokumen penting, dalam satu tempat.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840480"/>
            <a:ext cx="2286000" cy="100584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E1E7FF"/>
                </a:solidFill>
                <a:latin typeface="Aptos"/>
              </a:defRPr>
            </a:pPr>
            <a:r>
              <a:t>•  Simpan dokumen</a:t>
            </a:r>
          </a:p>
          <a:p>
            <a:pPr>
              <a:spcAft>
                <a:spcPts val="600"/>
              </a:spcAft>
              <a:defRPr sz="1100">
                <a:solidFill>
                  <a:srgbClr val="E1E7FF"/>
                </a:solidFill>
                <a:latin typeface="Aptos"/>
              </a:defRPr>
            </a:pPr>
            <a:r>
              <a:t>•  Atur arsip</a:t>
            </a:r>
          </a:p>
          <a:p>
            <a:pPr>
              <a:spcAft>
                <a:spcPts val="600"/>
              </a:spcAft>
              <a:defRPr sz="1100">
                <a:solidFill>
                  <a:srgbClr val="E1E7FF"/>
                </a:solidFill>
                <a:latin typeface="Aptos"/>
              </a:defRPr>
            </a:pPr>
            <a:r>
              <a:t>•  Temukan lebih cepat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2148840"/>
            <a:ext cx="2743200" cy="45720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900" b="1">
                <a:solidFill>
                  <a:srgbClr val="172554"/>
                </a:solidFill>
                <a:latin typeface="Aptos"/>
              </a:rPr>
              <a:t>Selamat datang 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2697480"/>
            <a:ext cx="2743200" cy="32004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Aptos"/>
              </a:rPr>
              <a:t>Masuk ke akun ARSIPKU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3246120"/>
            <a:ext cx="2560320" cy="22860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000" b="1">
                <a:solidFill>
                  <a:srgbClr val="172033"/>
                </a:solidFill>
                <a:latin typeface="Aptos"/>
              </a:rPr>
              <a:t>Email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3520439"/>
            <a:ext cx="269748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60520" y="4160520"/>
            <a:ext cx="2560320" cy="22860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000" b="1">
                <a:solidFill>
                  <a:srgbClr val="172033"/>
                </a:solidFill>
                <a:latin typeface="Aptos"/>
              </a:rPr>
              <a:t>Password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0520" y="4434840"/>
            <a:ext cx="269748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160520" y="5074920"/>
            <a:ext cx="2697480" cy="438912"/>
          </a:xfrm>
          <a:prstGeom prst="roundRect">
            <a:avLst/>
          </a:prstGeom>
          <a:solidFill>
            <a:srgbClr val="315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51960" y="5166360"/>
            <a:ext cx="2514600" cy="22860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Login 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2240280"/>
            <a:ext cx="32918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840" y="2240280"/>
            <a:ext cx="68580" cy="2103120"/>
          </a:xfrm>
          <a:prstGeom prst="rect">
            <a:avLst/>
          </a:prstGeom>
          <a:solidFill>
            <a:srgbClr val="315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9" y="2368296"/>
            <a:ext cx="2971800" cy="347472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500" b="1">
                <a:solidFill>
                  <a:srgbClr val="172554"/>
                </a:solidFill>
                <a:latin typeface="Aptos"/>
              </a:rPr>
              <a:t>Elemen UI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2770632"/>
            <a:ext cx="2971800" cy="1481327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200" b="0">
                <a:solidFill>
                  <a:srgbClr val="172033"/>
                </a:solidFill>
                <a:latin typeface="Aptos"/>
              </a:rPr>
              <a:t>• Brand ARSIPKU
• Judul dan deskripsi singkat
• Form email/password
• Tombol Login
• Tautan ke pendaftaran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2700" b="1">
                <a:solidFill>
                  <a:srgbClr val="172554"/>
                </a:solidFill>
                <a:latin typeface="Aptos"/>
              </a:rPr>
              <a:t>Rancangan Antarmuka — Daftar Akun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347472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Form untuk membuat akun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713232" cy="50292"/>
          </a:xfrm>
          <a:prstGeom prst="rect">
            <a:avLst/>
          </a:prstGeom>
          <a:solidFill>
            <a:srgbClr val="315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37360"/>
            <a:ext cx="502920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37360"/>
            <a:ext cx="68580" cy="3291840"/>
          </a:xfrm>
          <a:prstGeom prst="rect">
            <a:avLst/>
          </a:prstGeom>
          <a:solidFill>
            <a:srgbClr val="315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65376"/>
            <a:ext cx="4709160" cy="347472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500" b="1">
                <a:solidFill>
                  <a:srgbClr val="172554"/>
                </a:solidFill>
                <a:latin typeface="Aptos"/>
              </a:rPr>
              <a:t>Field pendaftaran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67712"/>
            <a:ext cx="4709160" cy="2670048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400" b="0">
                <a:solidFill>
                  <a:srgbClr val="172033"/>
                </a:solidFill>
                <a:latin typeface="Aptos"/>
              </a:rPr>
              <a:t>1. Nama lengkap
2. Email
3. Password
4. Konfirmasi password
Tombol utama: “Buat Akun”
Tautan: kembali ke Login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737360"/>
            <a:ext cx="502920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737360"/>
            <a:ext cx="68580" cy="32918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865376"/>
            <a:ext cx="4709160" cy="347472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500" b="1">
                <a:solidFill>
                  <a:srgbClr val="172554"/>
                </a:solidFill>
                <a:latin typeface="Aptos"/>
              </a:rPr>
              <a:t>Prinsip desain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267712"/>
            <a:ext cx="4709160" cy="2670048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400" b="0">
                <a:solidFill>
                  <a:srgbClr val="172033"/>
                </a:solidFill>
                <a:latin typeface="Aptos"/>
              </a:rPr>
              <a:t>• Label field mudah dikenali
• Urutan input mengikuti alur pengguna
• Konfirmasi password membantu mengurangi kesalahan input
• Tombol utama dibuat menonjol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532120"/>
            <a:ext cx="10149840" cy="36576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ctr"/>
            <a:r>
              <a:rPr sz="1300" b="1">
                <a:solidFill>
                  <a:srgbClr val="C43D4B"/>
                </a:solidFill>
                <a:latin typeface="Aptos"/>
              </a:rPr>
              <a:t>Akun ini adalah akun demo di browser, bukan akun terhubung ke server.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2700" b="1">
                <a:solidFill>
                  <a:srgbClr val="172554"/>
                </a:solidFill>
                <a:latin typeface="Aptos"/>
              </a:rPr>
              <a:t>Rancangan Antarmuka —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347472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Halaman awal setelah login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713232" cy="50292"/>
          </a:xfrm>
          <a:prstGeom prst="rect">
            <a:avLst/>
          </a:prstGeom>
          <a:solidFill>
            <a:srgbClr val="315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27432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2286000" cy="32004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600" b="1">
                <a:solidFill>
                  <a:srgbClr val="172554"/>
                </a:solidFill>
                <a:latin typeface="Aptos"/>
              </a:rPr>
              <a:t>▣ ARSIPKU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377440"/>
            <a:ext cx="2331720" cy="43891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2423160"/>
            <a:ext cx="2011680" cy="27432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100" b="1">
                <a:solidFill>
                  <a:srgbClr val="3157D5"/>
                </a:solidFill>
                <a:latin typeface="Aptos"/>
              </a:rPr>
              <a:t>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990088"/>
            <a:ext cx="2011680" cy="27432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Arsip Saya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557015"/>
            <a:ext cx="2011680" cy="27432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Kategori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4123944"/>
            <a:ext cx="2011680" cy="27432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Tambah Dokumen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4690872"/>
            <a:ext cx="2011680" cy="27432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Keluar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1783080"/>
            <a:ext cx="7223760" cy="45720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2200" b="1">
                <a:solidFill>
                  <a:srgbClr val="172554"/>
                </a:solidFill>
                <a:latin typeface="Aptos"/>
              </a:rPr>
              <a:t>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13632" y="2286000"/>
            <a:ext cx="6858000" cy="27432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Selamat datang — ringkasan arsip Anda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86200" y="2788920"/>
            <a:ext cx="2103120" cy="1005840"/>
          </a:xfrm>
          <a:prstGeom prst="roundRect">
            <a:avLst/>
          </a:prstGeom>
          <a:solidFill>
            <a:srgbClr val="F8FAFF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60" y="2971800"/>
            <a:ext cx="1828800" cy="27432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100" b="1">
                <a:solidFill>
                  <a:srgbClr val="172554"/>
                </a:solidFill>
                <a:latin typeface="Aptos"/>
              </a:rPr>
              <a:t>Total Dokumen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3337560"/>
            <a:ext cx="1828800" cy="22860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Aptos"/>
              </a:rPr>
              <a:t>Ringkasan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788920"/>
            <a:ext cx="2103120" cy="1005840"/>
          </a:xfrm>
          <a:prstGeom prst="roundRect">
            <a:avLst/>
          </a:prstGeom>
          <a:solidFill>
            <a:srgbClr val="F8FAFF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2971800"/>
            <a:ext cx="1828800" cy="27432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100" b="1">
                <a:solidFill>
                  <a:srgbClr val="172554"/>
                </a:solidFill>
                <a:latin typeface="Aptos"/>
              </a:rPr>
              <a:t>Kategori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337560"/>
            <a:ext cx="1828800" cy="22860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Aptos"/>
              </a:rPr>
              <a:t>Ringkasan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49640" y="2788920"/>
            <a:ext cx="2103120" cy="1005840"/>
          </a:xfrm>
          <a:prstGeom prst="roundRect">
            <a:avLst/>
          </a:prstGeom>
          <a:solidFill>
            <a:srgbClr val="F8FAFF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0" y="2971800"/>
            <a:ext cx="1828800" cy="27432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100" b="1">
                <a:solidFill>
                  <a:srgbClr val="172554"/>
                </a:solidFill>
                <a:latin typeface="Aptos"/>
              </a:rPr>
              <a:t>Aktivitas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337560"/>
            <a:ext cx="1828800" cy="22860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Aptos"/>
              </a:rPr>
              <a:t>Ringkasan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86200" y="4160520"/>
            <a:ext cx="71323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86200" y="4160520"/>
            <a:ext cx="68580" cy="13258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69080" y="4288536"/>
            <a:ext cx="6812280" cy="347472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500" b="1">
                <a:solidFill>
                  <a:srgbClr val="172554"/>
                </a:solidFill>
                <a:latin typeface="Aptos"/>
              </a:rPr>
              <a:t>Navigasi utama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9080" y="4690872"/>
            <a:ext cx="6812280" cy="704087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200" b="0">
                <a:solidFill>
                  <a:srgbClr val="172033"/>
                </a:solidFill>
                <a:latin typeface="Aptos"/>
              </a:rPr>
              <a:t>Dashboard • Arsip Saya • Kategori • Tambah Dokumen • Keluar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2700" b="1">
                <a:solidFill>
                  <a:srgbClr val="172554"/>
                </a:solidFill>
                <a:latin typeface="Aptos"/>
              </a:rPr>
              <a:t>Fitur Utama — Arsip, Kategori, dan Tambah Dokumen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347472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Rangkuman menu utama pada web ARSIPKU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713232" cy="50292"/>
          </a:xfrm>
          <a:prstGeom prst="rect">
            <a:avLst/>
          </a:prstGeom>
          <a:solidFill>
            <a:srgbClr val="315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4747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68580" cy="2194560"/>
          </a:xfrm>
          <a:prstGeom prst="rect">
            <a:avLst/>
          </a:prstGeom>
          <a:solidFill>
            <a:srgbClr val="315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65376"/>
            <a:ext cx="3154679" cy="347472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500" b="1">
                <a:solidFill>
                  <a:srgbClr val="172554"/>
                </a:solidFill>
                <a:latin typeface="Aptos"/>
              </a:rPr>
              <a:t>Arsip Saya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67712"/>
            <a:ext cx="3154679" cy="1572767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200" b="0">
                <a:solidFill>
                  <a:srgbClr val="172033"/>
                </a:solidFill>
                <a:latin typeface="Aptos"/>
              </a:rPr>
              <a:t>Menampilkan kumpulan dokumen yang sudah ditambahkan sehingga pengguna dapat meninjau arsipnya.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737360"/>
            <a:ext cx="34747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737360"/>
            <a:ext cx="68580" cy="219456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865376"/>
            <a:ext cx="3154679" cy="347472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500" b="1">
                <a:solidFill>
                  <a:srgbClr val="172554"/>
                </a:solidFill>
                <a:latin typeface="Aptos"/>
              </a:rPr>
              <a:t>Kategori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267712"/>
            <a:ext cx="3154679" cy="1572767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200" b="0">
                <a:solidFill>
                  <a:srgbClr val="172033"/>
                </a:solidFill>
                <a:latin typeface="Aptos"/>
              </a:rPr>
              <a:t>Membantu mengelompokkan dokumen berdasarkan jenis atau kebutuhan pengguna.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737360"/>
            <a:ext cx="34747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1737360"/>
            <a:ext cx="68580" cy="2194560"/>
          </a:xfrm>
          <a:prstGeom prst="rect">
            <a:avLst/>
          </a:prstGeom>
          <a:solidFill>
            <a:srgbClr val="E6A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79" y="1865376"/>
            <a:ext cx="3154679" cy="347472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500" b="1">
                <a:solidFill>
                  <a:srgbClr val="172554"/>
                </a:solidFill>
                <a:latin typeface="Aptos"/>
              </a:rPr>
              <a:t>Tambah Dokumen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267712"/>
            <a:ext cx="3154679" cy="1572767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200" b="0">
                <a:solidFill>
                  <a:srgbClr val="172033"/>
                </a:solidFill>
                <a:latin typeface="Aptos"/>
              </a:rPr>
              <a:t>Titik masuk untuk menambahkan file dan informasi dokumen ke arsip.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80560"/>
            <a:ext cx="10241280" cy="68580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ctr"/>
            <a:r>
              <a:rPr sz="1500" b="1">
                <a:solidFill>
                  <a:srgbClr val="C43D4B"/>
                </a:solidFill>
                <a:latin typeface="Aptos"/>
              </a:rPr>
              <a:t>Catatan implementasi: fitur dan kemampuan penyimpanan perlu diuji pada browser desktop maupun HP. Demo tidak menggunakan penyimpanan cloud bersama.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2700" b="1">
                <a:solidFill>
                  <a:srgbClr val="172554"/>
                </a:solidFill>
                <a:latin typeface="Aptos"/>
              </a:rPr>
              <a:t>Rencana Pengujian Usability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347472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Skenario untuk mengevaluasi kemudahan penggunaan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713232" cy="50292"/>
          </a:xfrm>
          <a:prstGeom prst="rect">
            <a:avLst/>
          </a:prstGeom>
          <a:solidFill>
            <a:srgbClr val="315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3736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37360"/>
            <a:ext cx="68580" cy="1691640"/>
          </a:xfrm>
          <a:prstGeom prst="rect">
            <a:avLst/>
          </a:prstGeom>
          <a:solidFill>
            <a:srgbClr val="315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65376"/>
            <a:ext cx="3063240" cy="347472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500" b="1">
                <a:solidFill>
                  <a:srgbClr val="172554"/>
                </a:solidFill>
                <a:latin typeface="Aptos"/>
              </a:rPr>
              <a:t>Skenario 1 — 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67712"/>
            <a:ext cx="3063240" cy="1069848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200" b="0">
                <a:solidFill>
                  <a:srgbClr val="172033"/>
                </a:solidFill>
                <a:latin typeface="Aptos"/>
              </a:rPr>
              <a:t>Pengguna mengisi email dan password lalu masuk ke dashboard.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73736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7408" y="1737360"/>
            <a:ext cx="68580" cy="16916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865376"/>
            <a:ext cx="3063240" cy="347472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500" b="1">
                <a:solidFill>
                  <a:srgbClr val="172554"/>
                </a:solidFill>
                <a:latin typeface="Aptos"/>
              </a:rPr>
              <a:t>Skenario 2 — Navigasi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267712"/>
            <a:ext cx="3063240" cy="1069848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200" b="0">
                <a:solidFill>
                  <a:srgbClr val="172033"/>
                </a:solidFill>
                <a:latin typeface="Aptos"/>
              </a:rPr>
              <a:t>Pengguna membuka Arsip Saya dan Kategori dari sidebar.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3736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737360"/>
            <a:ext cx="68580" cy="1691640"/>
          </a:xfrm>
          <a:prstGeom prst="rect">
            <a:avLst/>
          </a:prstGeom>
          <a:solidFill>
            <a:srgbClr val="E6A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865376"/>
            <a:ext cx="3063240" cy="347472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500" b="1">
                <a:solidFill>
                  <a:srgbClr val="172554"/>
                </a:solidFill>
                <a:latin typeface="Aptos"/>
              </a:rPr>
              <a:t>Skenario 3 — Dokumen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267712"/>
            <a:ext cx="3063240" cy="1069848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200" b="0">
                <a:solidFill>
                  <a:srgbClr val="172033"/>
                </a:solidFill>
                <a:latin typeface="Aptos"/>
              </a:rPr>
              <a:t>Pengguna mencoba alur Tambah Dokumen dan mencari dokumen.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977639"/>
            <a:ext cx="10241280" cy="32004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700" b="1">
                <a:solidFill>
                  <a:srgbClr val="172554"/>
                </a:solidFill>
                <a:latin typeface="Aptos"/>
              </a:rPr>
              <a:t>Indikator yang diamati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389120"/>
            <a:ext cx="10149840" cy="146304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•  Apakah pengguna memahami nama menu dan tombol?</a:t>
            </a:r>
          </a:p>
          <a:p>
            <a:pPr>
              <a:spcAft>
                <a:spcPts val="6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•  Apakah pengguna dapat menyelesaikan tugas tanpa arahan?</a:t>
            </a:r>
          </a:p>
          <a:p>
            <a:pPr>
              <a:spcAft>
                <a:spcPts val="6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•  Apakah tampilan tetap terbaca di layar HP?</a:t>
            </a:r>
          </a:p>
          <a:p>
            <a:pPr>
              <a:spcAft>
                <a:spcPts val="6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•  Bagian mana yang membingungkan atau tidak bekerja sesuai harapan?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2700" b="1">
                <a:solidFill>
                  <a:srgbClr val="172554"/>
                </a:solidFill>
                <a:latin typeface="Aptos"/>
              </a:rPr>
              <a:t>Evaluasi Prototipe — Batasan dan Pengembangan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347472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Memisahkan kemampuan demo saat ini dari pengembangan berikutnya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71016"/>
            <a:ext cx="713232" cy="50292"/>
          </a:xfrm>
          <a:prstGeom prst="rect">
            <a:avLst/>
          </a:prstGeom>
          <a:solidFill>
            <a:srgbClr val="315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37360"/>
            <a:ext cx="50749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37360"/>
            <a:ext cx="68580" cy="224028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65376"/>
            <a:ext cx="4754880" cy="347472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500" b="1">
                <a:solidFill>
                  <a:srgbClr val="172554"/>
                </a:solidFill>
                <a:latin typeface="Aptos"/>
              </a:rPr>
              <a:t>Yang ditunjukkan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67712"/>
            <a:ext cx="4754880" cy="1618488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300" b="0">
                <a:solidFill>
                  <a:srgbClr val="172033"/>
                </a:solidFill>
                <a:latin typeface="Aptos"/>
              </a:rPr>
              <a:t>• Form Login dan Daftar
• Dashboard dan navigasi
• Menu Arsip Saya, Kategori, Tambah Dokumen
• Antarmuka pengelolaan dokumen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737360"/>
            <a:ext cx="50749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5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737360"/>
            <a:ext cx="68580" cy="2240280"/>
          </a:xfrm>
          <a:prstGeom prst="rect">
            <a:avLst/>
          </a:prstGeom>
          <a:solidFill>
            <a:srgbClr val="C43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865376"/>
            <a:ext cx="4754880" cy="347472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500" b="1">
                <a:solidFill>
                  <a:srgbClr val="172554"/>
                </a:solidFill>
                <a:latin typeface="Aptos"/>
              </a:rPr>
              <a:t>Batasan saat ini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267712"/>
            <a:ext cx="4754880" cy="1618488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300" b="0">
                <a:solidFill>
                  <a:srgbClr val="172033"/>
                </a:solidFill>
                <a:latin typeface="Aptos"/>
              </a:rPr>
              <a:t>• Data disimpan secara lokal pada browser
• Belum ada server / database online
• Data tidak otomatis sinkron antarperangkat
• Jangan unggah dokumen pribadi atau sensitif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480560"/>
            <a:ext cx="10241280" cy="45720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700" b="1">
                <a:solidFill>
                  <a:srgbClr val="172554"/>
                </a:solidFill>
                <a:latin typeface="Aptos"/>
              </a:rPr>
              <a:t>Pengembangan selanjutnya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892040"/>
            <a:ext cx="10058400" cy="10972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72033"/>
                </a:solidFill>
                <a:latin typeface="Aptos"/>
              </a:defRPr>
            </a:pPr>
            <a:r>
              <a:t>•  Hosting agar aplikasi dapat dibuka melalui tautan publik.</a:t>
            </a:r>
          </a:p>
          <a:p>
            <a:pPr>
              <a:spcAft>
                <a:spcPts val="400"/>
              </a:spcAft>
              <a:defRPr sz="1300">
                <a:solidFill>
                  <a:srgbClr val="172033"/>
                </a:solidFill>
                <a:latin typeface="Aptos"/>
              </a:defRPr>
            </a:pPr>
            <a:r>
              <a:t>•  Backend dan database untuk penyimpanan bersama yang aman.</a:t>
            </a:r>
          </a:p>
          <a:p>
            <a:pPr>
              <a:spcAft>
                <a:spcPts val="400"/>
              </a:spcAft>
              <a:defRPr sz="1300">
                <a:solidFill>
                  <a:srgbClr val="172033"/>
                </a:solidFill>
                <a:latin typeface="Aptos"/>
              </a:defRPr>
            </a:pPr>
            <a:r>
              <a:t>•  Uji responsivitas, aksesibilitas, dan keamanan sebelum dipakai sungguhan.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058400" cy="36576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400" b="1">
                <a:solidFill>
                  <a:srgbClr val="ADC2FF"/>
                </a:solidFill>
                <a:latin typeface="Aptos"/>
              </a:rPr>
              <a:t>KESIMPULAN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424160" cy="96012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ARSIPKU adalah prototipe arsip digital untuk membantu mahasiswa mengelola dokumen.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9875520" cy="182880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E8EDFF"/>
                </a:solidFill>
                <a:latin typeface="Aptos"/>
              </a:defRPr>
            </a:pPr>
            <a:r>
              <a:t>•  Masalah yang dituju: dokumen tersebar dan sulit ditemukan.</a:t>
            </a:r>
          </a:p>
          <a:p>
            <a:pPr>
              <a:spcAft>
                <a:spcPts val="1000"/>
              </a:spcAft>
              <a:defRPr sz="1500">
                <a:solidFill>
                  <a:srgbClr val="E8EDFF"/>
                </a:solidFill>
                <a:latin typeface="Aptos"/>
              </a:defRPr>
            </a:pPr>
            <a:r>
              <a:t>•  Solusi antarmuka: dashboard, arsip, kategori, dan alur tambah dokumen.</a:t>
            </a:r>
          </a:p>
          <a:p>
            <a:pPr>
              <a:spcAft>
                <a:spcPts val="1000"/>
              </a:spcAft>
              <a:defRPr sz="1500">
                <a:solidFill>
                  <a:srgbClr val="E8EDFF"/>
                </a:solidFill>
                <a:latin typeface="Aptos"/>
              </a:defRPr>
            </a:pPr>
            <a:r>
              <a:t>•  Status: demo HTML; penyimpanan masih lokal dan belum menjadi layanan cloud.</a:t>
            </a:r>
          </a:p>
          <a:p>
            <a:pPr>
              <a:spcAft>
                <a:spcPts val="1000"/>
              </a:spcAft>
              <a:defRPr sz="1500">
                <a:solidFill>
                  <a:srgbClr val="E8EDFF"/>
                </a:solidFill>
                <a:latin typeface="Aptos"/>
              </a:defRPr>
            </a:pPr>
            <a:r>
              <a:t>•  Langkah berikutnya: uji dengan pengguna dan tingkatkan sistem secara bertahap.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897880"/>
            <a:ext cx="10058400" cy="365760"/>
          </a:xfrm>
          <a:prstGeom prst="rect">
            <a:avLst/>
          </a:prstGeom>
          <a:noFill/>
        </p:spPr>
        <p:txBody>
          <a:bodyPr wrap="square" lIns="64008" rIns="64008" tIns="36576" bIns="27432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Terima kasih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